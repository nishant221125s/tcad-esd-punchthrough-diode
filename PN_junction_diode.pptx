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4" r:id="rId3"/>
    <p:sldId id="283" r:id="rId4"/>
    <p:sldId id="284" r:id="rId5"/>
    <p:sldId id="264" r:id="rId6"/>
    <p:sldId id="279" r:id="rId7"/>
    <p:sldId id="276" r:id="rId8"/>
    <p:sldId id="274" r:id="rId9"/>
    <p:sldId id="275" r:id="rId10"/>
    <p:sldId id="278" r:id="rId11"/>
    <p:sldId id="286" r:id="rId12"/>
    <p:sldId id="280" r:id="rId13"/>
    <p:sldId id="293" r:id="rId14"/>
    <p:sldId id="29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F5093E-CD6D-4E16-B2AD-BC95882ED7C1}" v="483" dt="2026-03-13T11:25:32.0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ant pandey" userId="0f88c65de0900d03" providerId="LiveId" clId="{D6A65C29-00BF-4EB4-8BD2-C9DFFDBCF784}"/>
    <pc:docChg chg="undo custSel addSld delSld modSld sldOrd">
      <pc:chgData name="nishant pandey" userId="0f88c65de0900d03" providerId="LiveId" clId="{D6A65C29-00BF-4EB4-8BD2-C9DFFDBCF784}" dt="2026-03-13T11:25:32.023" v="4797" actId="20577"/>
      <pc:docMkLst>
        <pc:docMk/>
      </pc:docMkLst>
      <pc:sldChg chg="modSp mod">
        <pc:chgData name="nishant pandey" userId="0f88c65de0900d03" providerId="LiveId" clId="{D6A65C29-00BF-4EB4-8BD2-C9DFFDBCF784}" dt="2026-03-11T14:36:54.648" v="4246" actId="113"/>
        <pc:sldMkLst>
          <pc:docMk/>
          <pc:sldMk cId="3382867887" sldId="256"/>
        </pc:sldMkLst>
        <pc:spChg chg="mod">
          <ac:chgData name="nishant pandey" userId="0f88c65de0900d03" providerId="LiveId" clId="{D6A65C29-00BF-4EB4-8BD2-C9DFFDBCF784}" dt="2026-02-12T17:27:47.465" v="838" actId="113"/>
          <ac:spMkLst>
            <pc:docMk/>
            <pc:sldMk cId="3382867887" sldId="256"/>
            <ac:spMk id="2" creationId="{A1AA1C1C-3694-94D2-B4E5-AD94C4B80614}"/>
          </ac:spMkLst>
        </pc:spChg>
        <pc:spChg chg="mod">
          <ac:chgData name="nishant pandey" userId="0f88c65de0900d03" providerId="LiveId" clId="{D6A65C29-00BF-4EB4-8BD2-C9DFFDBCF784}" dt="2026-03-11T14:36:54.648" v="4246" actId="113"/>
          <ac:spMkLst>
            <pc:docMk/>
            <pc:sldMk cId="3382867887" sldId="256"/>
            <ac:spMk id="3" creationId="{0377B0BB-D25A-62D2-89B1-76DF4A2901DE}"/>
          </ac:spMkLst>
        </pc:spChg>
      </pc:sldChg>
      <pc:sldChg chg="addSp delSp modSp del mod">
        <pc:chgData name="nishant pandey" userId="0f88c65de0900d03" providerId="LiveId" clId="{D6A65C29-00BF-4EB4-8BD2-C9DFFDBCF784}" dt="2026-03-12T07:47:38.093" v="4729" actId="47"/>
        <pc:sldMkLst>
          <pc:docMk/>
          <pc:sldMk cId="446513638" sldId="258"/>
        </pc:sldMkLst>
      </pc:sldChg>
      <pc:sldChg chg="addSp delSp modSp del mod">
        <pc:chgData name="nishant pandey" userId="0f88c65de0900d03" providerId="LiveId" clId="{D6A65C29-00BF-4EB4-8BD2-C9DFFDBCF784}" dt="2026-03-12T07:47:39.991" v="4730" actId="47"/>
        <pc:sldMkLst>
          <pc:docMk/>
          <pc:sldMk cId="3178846914" sldId="259"/>
        </pc:sldMkLst>
        <pc:spChg chg="add mod">
          <ac:chgData name="nishant pandey" userId="0f88c65de0900d03" providerId="LiveId" clId="{D6A65C29-00BF-4EB4-8BD2-C9DFFDBCF784}" dt="2026-03-12T07:17:38.507" v="4703" actId="13822"/>
          <ac:spMkLst>
            <pc:docMk/>
            <pc:sldMk cId="3178846914" sldId="259"/>
            <ac:spMk id="4" creationId="{9A5A638F-83EB-A6EA-6D36-D7AB825C4FF0}"/>
          </ac:spMkLst>
        </pc:spChg>
      </pc:sldChg>
      <pc:sldChg chg="addSp modSp del mod">
        <pc:chgData name="nishant pandey" userId="0f88c65de0900d03" providerId="LiveId" clId="{D6A65C29-00BF-4EB4-8BD2-C9DFFDBCF784}" dt="2026-03-12T07:47:41.188" v="4731" actId="47"/>
        <pc:sldMkLst>
          <pc:docMk/>
          <pc:sldMk cId="3285142850" sldId="262"/>
        </pc:sldMkLst>
      </pc:sldChg>
      <pc:sldChg chg="addSp modSp mod">
        <pc:chgData name="nishant pandey" userId="0f88c65de0900d03" providerId="LiveId" clId="{D6A65C29-00BF-4EB4-8BD2-C9DFFDBCF784}" dt="2026-03-13T11:09:09.903" v="4786" actId="400"/>
        <pc:sldMkLst>
          <pc:docMk/>
          <pc:sldMk cId="166020924" sldId="264"/>
        </pc:sldMkLst>
        <pc:spChg chg="mod">
          <ac:chgData name="nishant pandey" userId="0f88c65de0900d03" providerId="LiveId" clId="{D6A65C29-00BF-4EB4-8BD2-C9DFFDBCF784}" dt="2026-02-12T13:38:13.307" v="18" actId="20577"/>
          <ac:spMkLst>
            <pc:docMk/>
            <pc:sldMk cId="166020924" sldId="264"/>
            <ac:spMk id="2" creationId="{3227F4E0-EF16-CD20-8A08-3FA3B5B8F40C}"/>
          </ac:spMkLst>
        </pc:spChg>
        <pc:spChg chg="mod">
          <ac:chgData name="nishant pandey" userId="0f88c65de0900d03" providerId="LiveId" clId="{D6A65C29-00BF-4EB4-8BD2-C9DFFDBCF784}" dt="2026-03-13T11:09:09.903" v="4786" actId="400"/>
          <ac:spMkLst>
            <pc:docMk/>
            <pc:sldMk cId="166020924" sldId="264"/>
            <ac:spMk id="3" creationId="{D293D50E-829D-8D86-10A9-2F199F1A33E1}"/>
          </ac:spMkLst>
        </pc:spChg>
        <pc:picChg chg="add mod">
          <ac:chgData name="nishant pandey" userId="0f88c65de0900d03" providerId="LiveId" clId="{D6A65C29-00BF-4EB4-8BD2-C9DFFDBCF784}" dt="2026-03-12T07:49:52.853" v="4739" actId="14100"/>
          <ac:picMkLst>
            <pc:docMk/>
            <pc:sldMk cId="166020924" sldId="264"/>
            <ac:picMk id="1026" creationId="{802E9EF2-6D42-7E05-4A1A-5AE803C02153}"/>
          </ac:picMkLst>
        </pc:picChg>
        <pc:picChg chg="add mod">
          <ac:chgData name="nishant pandey" userId="0f88c65de0900d03" providerId="LiveId" clId="{D6A65C29-00BF-4EB4-8BD2-C9DFFDBCF784}" dt="2026-03-11T14:52:32.954" v="4436" actId="14100"/>
          <ac:picMkLst>
            <pc:docMk/>
            <pc:sldMk cId="166020924" sldId="264"/>
            <ac:picMk id="3074" creationId="{A5656AB4-E903-A004-85EE-0C4C96517889}"/>
          </ac:picMkLst>
        </pc:picChg>
      </pc:sldChg>
      <pc:sldChg chg="addSp delSp modSp new mod">
        <pc:chgData name="nishant pandey" userId="0f88c65de0900d03" providerId="LiveId" clId="{D6A65C29-00BF-4EB4-8BD2-C9DFFDBCF784}" dt="2026-03-11T08:44:20.091" v="2406" actId="113"/>
        <pc:sldMkLst>
          <pc:docMk/>
          <pc:sldMk cId="3024461344" sldId="274"/>
        </pc:sldMkLst>
        <pc:spChg chg="mod">
          <ac:chgData name="nishant pandey" userId="0f88c65de0900d03" providerId="LiveId" clId="{D6A65C29-00BF-4EB4-8BD2-C9DFFDBCF784}" dt="2026-02-12T17:19:37.467" v="698" actId="20577"/>
          <ac:spMkLst>
            <pc:docMk/>
            <pc:sldMk cId="3024461344" sldId="274"/>
            <ac:spMk id="2" creationId="{BFA05183-0159-817E-C434-84289E38C024}"/>
          </ac:spMkLst>
        </pc:spChg>
        <pc:spChg chg="mod">
          <ac:chgData name="nishant pandey" userId="0f88c65de0900d03" providerId="LiveId" clId="{D6A65C29-00BF-4EB4-8BD2-C9DFFDBCF784}" dt="2026-03-11T08:44:20.091" v="2406" actId="113"/>
          <ac:spMkLst>
            <pc:docMk/>
            <pc:sldMk cId="3024461344" sldId="274"/>
            <ac:spMk id="4" creationId="{411F9D13-BA5B-A3BD-02AD-924A0150BCDD}"/>
          </ac:spMkLst>
        </pc:spChg>
        <pc:picChg chg="add mod">
          <ac:chgData name="nishant pandey" userId="0f88c65de0900d03" providerId="LiveId" clId="{D6A65C29-00BF-4EB4-8BD2-C9DFFDBCF784}" dt="2026-02-12T17:18:08.186" v="688" actId="14100"/>
          <ac:picMkLst>
            <pc:docMk/>
            <pc:sldMk cId="3024461344" sldId="274"/>
            <ac:picMk id="5" creationId="{147BA8C9-D89C-C04B-004F-5889DC9DBEC4}"/>
          </ac:picMkLst>
        </pc:picChg>
      </pc:sldChg>
      <pc:sldChg chg="addSp delSp modSp new mod">
        <pc:chgData name="nishant pandey" userId="0f88c65de0900d03" providerId="LiveId" clId="{D6A65C29-00BF-4EB4-8BD2-C9DFFDBCF784}" dt="2026-03-11T08:46:08.090" v="2474" actId="5793"/>
        <pc:sldMkLst>
          <pc:docMk/>
          <pc:sldMk cId="491405665" sldId="275"/>
        </pc:sldMkLst>
        <pc:spChg chg="mod">
          <ac:chgData name="nishant pandey" userId="0f88c65de0900d03" providerId="LiveId" clId="{D6A65C29-00BF-4EB4-8BD2-C9DFFDBCF784}" dt="2026-03-11T08:45:12.968" v="2469" actId="20577"/>
          <ac:spMkLst>
            <pc:docMk/>
            <pc:sldMk cId="491405665" sldId="275"/>
            <ac:spMk id="2" creationId="{58EADE98-7E3D-9A97-B814-DF2FE76ACE23}"/>
          </ac:spMkLst>
        </pc:spChg>
        <pc:spChg chg="mod">
          <ac:chgData name="nishant pandey" userId="0f88c65de0900d03" providerId="LiveId" clId="{D6A65C29-00BF-4EB4-8BD2-C9DFFDBCF784}" dt="2026-03-11T08:46:08.090" v="2474" actId="5793"/>
          <ac:spMkLst>
            <pc:docMk/>
            <pc:sldMk cId="491405665" sldId="275"/>
            <ac:spMk id="4" creationId="{4CCAE038-0096-3005-671D-A7F9A8E66BC3}"/>
          </ac:spMkLst>
        </pc:spChg>
        <pc:picChg chg="add mod ord">
          <ac:chgData name="nishant pandey" userId="0f88c65de0900d03" providerId="LiveId" clId="{D6A65C29-00BF-4EB4-8BD2-C9DFFDBCF784}" dt="2026-03-10T03:56:47.622" v="1425" actId="14100"/>
          <ac:picMkLst>
            <pc:docMk/>
            <pc:sldMk cId="491405665" sldId="275"/>
            <ac:picMk id="8" creationId="{73784965-BEC0-A1F7-2D45-6D33070A3D0D}"/>
          </ac:picMkLst>
        </pc:picChg>
      </pc:sldChg>
      <pc:sldChg chg="addSp delSp modSp new mod">
        <pc:chgData name="nishant pandey" userId="0f88c65de0900d03" providerId="LiveId" clId="{D6A65C29-00BF-4EB4-8BD2-C9DFFDBCF784}" dt="2026-03-11T08:39:55.717" v="2195" actId="14100"/>
        <pc:sldMkLst>
          <pc:docMk/>
          <pc:sldMk cId="1996802631" sldId="276"/>
        </pc:sldMkLst>
        <pc:spChg chg="mod">
          <ac:chgData name="nishant pandey" userId="0f88c65de0900d03" providerId="LiveId" clId="{D6A65C29-00BF-4EB4-8BD2-C9DFFDBCF784}" dt="2026-03-11T08:39:55.717" v="2195" actId="14100"/>
          <ac:spMkLst>
            <pc:docMk/>
            <pc:sldMk cId="1996802631" sldId="276"/>
            <ac:spMk id="2" creationId="{82CF40E2-DF1B-59AE-CF5E-206DCCA0D13D}"/>
          </ac:spMkLst>
        </pc:spChg>
        <pc:spChg chg="mod">
          <ac:chgData name="nishant pandey" userId="0f88c65de0900d03" providerId="LiveId" clId="{D6A65C29-00BF-4EB4-8BD2-C9DFFDBCF784}" dt="2026-02-12T17:24:16.639" v="727" actId="27636"/>
          <ac:spMkLst>
            <pc:docMk/>
            <pc:sldMk cId="1996802631" sldId="276"/>
            <ac:spMk id="4" creationId="{8CBAF1E5-913E-8FCA-C946-51D2D1722203}"/>
          </ac:spMkLst>
        </pc:spChg>
        <pc:picChg chg="add mod">
          <ac:chgData name="nishant pandey" userId="0f88c65de0900d03" providerId="LiveId" clId="{D6A65C29-00BF-4EB4-8BD2-C9DFFDBCF784}" dt="2026-02-12T17:23:03.675" v="723" actId="14100"/>
          <ac:picMkLst>
            <pc:docMk/>
            <pc:sldMk cId="1996802631" sldId="276"/>
            <ac:picMk id="5" creationId="{B19E4BC8-6B98-C1E8-7C24-391D3C8ABCF5}"/>
          </ac:picMkLst>
        </pc:picChg>
      </pc:sldChg>
      <pc:sldChg chg="addSp delSp modSp new mod">
        <pc:chgData name="nishant pandey" userId="0f88c65de0900d03" providerId="LiveId" clId="{D6A65C29-00BF-4EB4-8BD2-C9DFFDBCF784}" dt="2026-03-11T08:56:09.235" v="3148" actId="14100"/>
        <pc:sldMkLst>
          <pc:docMk/>
          <pc:sldMk cId="245928914" sldId="278"/>
        </pc:sldMkLst>
        <pc:spChg chg="mod">
          <ac:chgData name="nishant pandey" userId="0f88c65de0900d03" providerId="LiveId" clId="{D6A65C29-00BF-4EB4-8BD2-C9DFFDBCF784}" dt="2026-03-11T08:51:57.347" v="3122" actId="403"/>
          <ac:spMkLst>
            <pc:docMk/>
            <pc:sldMk cId="245928914" sldId="278"/>
            <ac:spMk id="2" creationId="{71B9EDEA-71EA-6267-BE82-505E878A8C63}"/>
          </ac:spMkLst>
        </pc:spChg>
        <pc:spChg chg="mod">
          <ac:chgData name="nishant pandey" userId="0f88c65de0900d03" providerId="LiveId" clId="{D6A65C29-00BF-4EB4-8BD2-C9DFFDBCF784}" dt="2026-03-11T08:56:02.491" v="3147" actId="403"/>
          <ac:spMkLst>
            <pc:docMk/>
            <pc:sldMk cId="245928914" sldId="278"/>
            <ac:spMk id="4" creationId="{F80DE4C3-C4E6-1C61-79DD-B46CDC5835D6}"/>
          </ac:spMkLst>
        </pc:spChg>
        <pc:picChg chg="add mod">
          <ac:chgData name="nishant pandey" userId="0f88c65de0900d03" providerId="LiveId" clId="{D6A65C29-00BF-4EB4-8BD2-C9DFFDBCF784}" dt="2026-03-11T08:56:09.235" v="3148" actId="14100"/>
          <ac:picMkLst>
            <pc:docMk/>
            <pc:sldMk cId="245928914" sldId="278"/>
            <ac:picMk id="6" creationId="{CFA09BFE-DF3E-7C68-6D43-00A58D14E34B}"/>
          </ac:picMkLst>
        </pc:picChg>
      </pc:sldChg>
      <pc:sldChg chg="addSp delSp modSp new mod">
        <pc:chgData name="nishant pandey" userId="0f88c65de0900d03" providerId="LiveId" clId="{D6A65C29-00BF-4EB4-8BD2-C9DFFDBCF784}" dt="2026-03-11T08:38:31.747" v="2152" actId="113"/>
        <pc:sldMkLst>
          <pc:docMk/>
          <pc:sldMk cId="3303361130" sldId="279"/>
        </pc:sldMkLst>
        <pc:spChg chg="mod">
          <ac:chgData name="nishant pandey" userId="0f88c65de0900d03" providerId="LiveId" clId="{D6A65C29-00BF-4EB4-8BD2-C9DFFDBCF784}" dt="2026-02-12T17:38:39.511" v="922" actId="20577"/>
          <ac:spMkLst>
            <pc:docMk/>
            <pc:sldMk cId="3303361130" sldId="279"/>
            <ac:spMk id="2" creationId="{2EFB4AC4-7849-EB93-9E25-CC17F685FA16}"/>
          </ac:spMkLst>
        </pc:spChg>
        <pc:picChg chg="add mod ord">
          <ac:chgData name="nishant pandey" userId="0f88c65de0900d03" providerId="LiveId" clId="{D6A65C29-00BF-4EB4-8BD2-C9DFFDBCF784}" dt="2026-03-10T03:52:38.149" v="1408" actId="14100"/>
          <ac:picMkLst>
            <pc:docMk/>
            <pc:sldMk cId="3303361130" sldId="279"/>
            <ac:picMk id="12" creationId="{65E59D5B-22F1-C5FD-D375-652008E6001E}"/>
          </ac:picMkLst>
        </pc:picChg>
      </pc:sldChg>
      <pc:sldChg chg="addSp delSp modSp new mod">
        <pc:chgData name="nishant pandey" userId="0f88c65de0900d03" providerId="LiveId" clId="{D6A65C29-00BF-4EB4-8BD2-C9DFFDBCF784}" dt="2026-03-12T07:20:18.435" v="4709" actId="14100"/>
        <pc:sldMkLst>
          <pc:docMk/>
          <pc:sldMk cId="921394770" sldId="280"/>
        </pc:sldMkLst>
        <pc:spChg chg="mod">
          <ac:chgData name="nishant pandey" userId="0f88c65de0900d03" providerId="LiveId" clId="{D6A65C29-00BF-4EB4-8BD2-C9DFFDBCF784}" dt="2026-03-12T07:01:40.258" v="4546" actId="20577"/>
          <ac:spMkLst>
            <pc:docMk/>
            <pc:sldMk cId="921394770" sldId="280"/>
            <ac:spMk id="2" creationId="{C8E8A6CC-31A8-B572-9F57-8B4172AC1BA7}"/>
          </ac:spMkLst>
        </pc:spChg>
        <pc:spChg chg="add del mod">
          <ac:chgData name="nishant pandey" userId="0f88c65de0900d03" providerId="LiveId" clId="{D6A65C29-00BF-4EB4-8BD2-C9DFFDBCF784}" dt="2026-03-12T07:02:10.768" v="4554" actId="478"/>
          <ac:spMkLst>
            <pc:docMk/>
            <pc:sldMk cId="921394770" sldId="280"/>
            <ac:spMk id="6" creationId="{77E3804A-5A8D-C0EE-C5D0-885474316DB3}"/>
          </ac:spMkLst>
        </pc:spChg>
        <pc:spChg chg="add mod">
          <ac:chgData name="nishant pandey" userId="0f88c65de0900d03" providerId="LiveId" clId="{D6A65C29-00BF-4EB4-8BD2-C9DFFDBCF784}" dt="2026-03-12T07:20:13.925" v="4708" actId="1076"/>
          <ac:spMkLst>
            <pc:docMk/>
            <pc:sldMk cId="921394770" sldId="280"/>
            <ac:spMk id="7" creationId="{82EC83DC-F318-149F-C6DB-1C4367300BD4}"/>
          </ac:spMkLst>
        </pc:spChg>
        <pc:spChg chg="add mod">
          <ac:chgData name="nishant pandey" userId="0f88c65de0900d03" providerId="LiveId" clId="{D6A65C29-00BF-4EB4-8BD2-C9DFFDBCF784}" dt="2026-03-12T07:01:17.785" v="4537" actId="14100"/>
          <ac:spMkLst>
            <pc:docMk/>
            <pc:sldMk cId="921394770" sldId="280"/>
            <ac:spMk id="9" creationId="{802EAB15-70DA-8329-84CE-C231E0DCCAF9}"/>
          </ac:spMkLst>
        </pc:spChg>
        <pc:picChg chg="add mod">
          <ac:chgData name="nishant pandey" userId="0f88c65de0900d03" providerId="LiveId" clId="{D6A65C29-00BF-4EB4-8BD2-C9DFFDBCF784}" dt="2026-03-12T07:20:07.002" v="4706" actId="1076"/>
          <ac:picMkLst>
            <pc:docMk/>
            <pc:sldMk cId="921394770" sldId="280"/>
            <ac:picMk id="3" creationId="{0B77D868-990F-2448-0B3A-8E062CC2E700}"/>
          </ac:picMkLst>
        </pc:picChg>
        <pc:picChg chg="add mod">
          <ac:chgData name="nishant pandey" userId="0f88c65de0900d03" providerId="LiveId" clId="{D6A65C29-00BF-4EB4-8BD2-C9DFFDBCF784}" dt="2026-03-12T07:20:18.435" v="4709" actId="14100"/>
          <ac:picMkLst>
            <pc:docMk/>
            <pc:sldMk cId="921394770" sldId="280"/>
            <ac:picMk id="4" creationId="{80D23472-740E-5789-C27B-08374807C172}"/>
          </ac:picMkLst>
        </pc:picChg>
        <pc:picChg chg="add mod ord">
          <ac:chgData name="nishant pandey" userId="0f88c65de0900d03" providerId="LiveId" clId="{D6A65C29-00BF-4EB4-8BD2-C9DFFDBCF784}" dt="2026-03-12T07:03:37.745" v="4570" actId="14100"/>
          <ac:picMkLst>
            <pc:docMk/>
            <pc:sldMk cId="921394770" sldId="280"/>
            <ac:picMk id="17" creationId="{719A3463-C06F-336C-EE41-317F405C56DB}"/>
          </ac:picMkLst>
        </pc:picChg>
        <pc:picChg chg="add mod ord">
          <ac:chgData name="nishant pandey" userId="0f88c65de0900d03" providerId="LiveId" clId="{D6A65C29-00BF-4EB4-8BD2-C9DFFDBCF784}" dt="2026-03-12T07:03:42.446" v="4571" actId="14100"/>
          <ac:picMkLst>
            <pc:docMk/>
            <pc:sldMk cId="921394770" sldId="280"/>
            <ac:picMk id="21" creationId="{9064E2A2-C778-5602-DC9A-BB7DBD66A025}"/>
          </ac:picMkLst>
        </pc:picChg>
      </pc:sldChg>
      <pc:sldChg chg="addSp delSp modSp new del mod">
        <pc:chgData name="nishant pandey" userId="0f88c65de0900d03" providerId="LiveId" clId="{D6A65C29-00BF-4EB4-8BD2-C9DFFDBCF784}" dt="2026-03-12T07:03:54.287" v="4574" actId="47"/>
        <pc:sldMkLst>
          <pc:docMk/>
          <pc:sldMk cId="3830051860" sldId="281"/>
        </pc:sldMkLst>
      </pc:sldChg>
      <pc:sldChg chg="addSp delSp modSp new del mod">
        <pc:chgData name="nishant pandey" userId="0f88c65de0900d03" providerId="LiveId" clId="{D6A65C29-00BF-4EB4-8BD2-C9DFFDBCF784}" dt="2026-03-12T07:04:02.940" v="4575" actId="47"/>
        <pc:sldMkLst>
          <pc:docMk/>
          <pc:sldMk cId="1135162310" sldId="282"/>
        </pc:sldMkLst>
      </pc:sldChg>
      <pc:sldChg chg="addSp delSp modSp new mod">
        <pc:chgData name="nishant pandey" userId="0f88c65de0900d03" providerId="LiveId" clId="{D6A65C29-00BF-4EB4-8BD2-C9DFFDBCF784}" dt="2026-03-13T11:25:32.023" v="4797" actId="20577"/>
        <pc:sldMkLst>
          <pc:docMk/>
          <pc:sldMk cId="2974321746" sldId="283"/>
        </pc:sldMkLst>
        <pc:spChg chg="mod">
          <ac:chgData name="nishant pandey" userId="0f88c65de0900d03" providerId="LiveId" clId="{D6A65C29-00BF-4EB4-8BD2-C9DFFDBCF784}" dt="2026-03-11T19:45:52.828" v="4503" actId="20577"/>
          <ac:spMkLst>
            <pc:docMk/>
            <pc:sldMk cId="2974321746" sldId="283"/>
            <ac:spMk id="2" creationId="{6DAC1B32-964D-0D12-32D3-7796047F21D6}"/>
          </ac:spMkLst>
        </pc:spChg>
        <pc:spChg chg="add mod">
          <ac:chgData name="nishant pandey" userId="0f88c65de0900d03" providerId="LiveId" clId="{D6A65C29-00BF-4EB4-8BD2-C9DFFDBCF784}" dt="2026-03-12T07:17:54.828" v="4705" actId="13822"/>
          <ac:spMkLst>
            <pc:docMk/>
            <pc:sldMk cId="2974321746" sldId="283"/>
            <ac:spMk id="3" creationId="{9608AFC7-7996-802A-7A0E-A1E7A976D4AD}"/>
          </ac:spMkLst>
        </pc:spChg>
        <pc:spChg chg="mod">
          <ac:chgData name="nishant pandey" userId="0f88c65de0900d03" providerId="LiveId" clId="{D6A65C29-00BF-4EB4-8BD2-C9DFFDBCF784}" dt="2026-03-13T11:25:32.023" v="4797" actId="20577"/>
          <ac:spMkLst>
            <pc:docMk/>
            <pc:sldMk cId="2974321746" sldId="283"/>
            <ac:spMk id="4" creationId="{B2CC890F-50A7-FFC7-BF74-1B7FB7ADD3F0}"/>
          </ac:spMkLst>
        </pc:spChg>
        <pc:picChg chg="add mod">
          <ac:chgData name="nishant pandey" userId="0f88c65de0900d03" providerId="LiveId" clId="{D6A65C29-00BF-4EB4-8BD2-C9DFFDBCF784}" dt="2026-03-11T08:30:25.824" v="1698" actId="14100"/>
          <ac:picMkLst>
            <pc:docMk/>
            <pc:sldMk cId="2974321746" sldId="283"/>
            <ac:picMk id="5" creationId="{762FA47E-E4B8-8332-6448-8B4002E9ACBD}"/>
          </ac:picMkLst>
        </pc:picChg>
      </pc:sldChg>
      <pc:sldChg chg="addSp delSp modSp new mod">
        <pc:chgData name="nishant pandey" userId="0f88c65de0900d03" providerId="LiveId" clId="{D6A65C29-00BF-4EB4-8BD2-C9DFFDBCF784}" dt="2026-03-12T07:17:47.520" v="4704" actId="13822"/>
        <pc:sldMkLst>
          <pc:docMk/>
          <pc:sldMk cId="4138419881" sldId="284"/>
        </pc:sldMkLst>
        <pc:spChg chg="mod">
          <ac:chgData name="nishant pandey" userId="0f88c65de0900d03" providerId="LiveId" clId="{D6A65C29-00BF-4EB4-8BD2-C9DFFDBCF784}" dt="2026-03-11T08:31:35.376" v="1713"/>
          <ac:spMkLst>
            <pc:docMk/>
            <pc:sldMk cId="4138419881" sldId="284"/>
            <ac:spMk id="2" creationId="{25B7D236-CE54-1B26-4A83-722C04385D2D}"/>
          </ac:spMkLst>
        </pc:spChg>
        <pc:spChg chg="add mod">
          <ac:chgData name="nishant pandey" userId="0f88c65de0900d03" providerId="LiveId" clId="{D6A65C29-00BF-4EB4-8BD2-C9DFFDBCF784}" dt="2026-03-12T07:17:47.520" v="4704" actId="13822"/>
          <ac:spMkLst>
            <pc:docMk/>
            <pc:sldMk cId="4138419881" sldId="284"/>
            <ac:spMk id="3" creationId="{52990EC8-C15B-0915-0E0C-A7327E43735D}"/>
          </ac:spMkLst>
        </pc:spChg>
        <pc:spChg chg="mod">
          <ac:chgData name="nishant pandey" userId="0f88c65de0900d03" providerId="LiveId" clId="{D6A65C29-00BF-4EB4-8BD2-C9DFFDBCF784}" dt="2026-03-11T08:31:19.195" v="1712" actId="27636"/>
          <ac:spMkLst>
            <pc:docMk/>
            <pc:sldMk cId="4138419881" sldId="284"/>
            <ac:spMk id="4" creationId="{DD6DA1DB-05EC-2594-6FD2-33B02A3C7A0E}"/>
          </ac:spMkLst>
        </pc:spChg>
        <pc:picChg chg="add mod">
          <ac:chgData name="nishant pandey" userId="0f88c65de0900d03" providerId="LiveId" clId="{D6A65C29-00BF-4EB4-8BD2-C9DFFDBCF784}" dt="2026-03-11T08:31:39.252" v="1714" actId="14100"/>
          <ac:picMkLst>
            <pc:docMk/>
            <pc:sldMk cId="4138419881" sldId="284"/>
            <ac:picMk id="5" creationId="{4A50CC1C-0541-8EAC-73A5-77D422A0A156}"/>
          </ac:picMkLst>
        </pc:picChg>
      </pc:sldChg>
      <pc:sldChg chg="modSp new mod">
        <pc:chgData name="nishant pandey" userId="0f88c65de0900d03" providerId="LiveId" clId="{D6A65C29-00BF-4EB4-8BD2-C9DFFDBCF784}" dt="2026-03-11T09:05:22.319" v="3975" actId="33524"/>
        <pc:sldMkLst>
          <pc:docMk/>
          <pc:sldMk cId="839584600" sldId="286"/>
        </pc:sldMkLst>
        <pc:spChg chg="mod">
          <ac:chgData name="nishant pandey" userId="0f88c65de0900d03" providerId="LiveId" clId="{D6A65C29-00BF-4EB4-8BD2-C9DFFDBCF784}" dt="2026-03-11T08:56:50.991" v="3184" actId="20577"/>
          <ac:spMkLst>
            <pc:docMk/>
            <pc:sldMk cId="839584600" sldId="286"/>
            <ac:spMk id="2" creationId="{35581B2B-F6CA-1D95-BFCF-2B76F1032DA3}"/>
          </ac:spMkLst>
        </pc:spChg>
        <pc:spChg chg="mod">
          <ac:chgData name="nishant pandey" userId="0f88c65de0900d03" providerId="LiveId" clId="{D6A65C29-00BF-4EB4-8BD2-C9DFFDBCF784}" dt="2026-03-11T09:05:22.319" v="3975" actId="33524"/>
          <ac:spMkLst>
            <pc:docMk/>
            <pc:sldMk cId="839584600" sldId="286"/>
            <ac:spMk id="3" creationId="{A55EBAF9-9808-F673-E98A-604D179C0EBF}"/>
          </ac:spMkLst>
        </pc:spChg>
      </pc:sldChg>
      <pc:sldChg chg="modSp mod">
        <pc:chgData name="nishant pandey" userId="0f88c65de0900d03" providerId="LiveId" clId="{D6A65C29-00BF-4EB4-8BD2-C9DFFDBCF784}" dt="2026-03-12T07:50:53.192" v="4744" actId="20577"/>
        <pc:sldMkLst>
          <pc:docMk/>
          <pc:sldMk cId="1744591971" sldId="293"/>
        </pc:sldMkLst>
        <pc:graphicFrameChg chg="modGraphic">
          <ac:chgData name="nishant pandey" userId="0f88c65de0900d03" providerId="LiveId" clId="{D6A65C29-00BF-4EB4-8BD2-C9DFFDBCF784}" dt="2026-03-12T07:22:27.040" v="4715" actId="20577"/>
          <ac:graphicFrameMkLst>
            <pc:docMk/>
            <pc:sldMk cId="1744591971" sldId="293"/>
            <ac:graphicFrameMk id="5" creationId="{FF0B2D54-66F8-8695-5773-89D50AB23A7E}"/>
          </ac:graphicFrameMkLst>
        </pc:graphicFrameChg>
        <pc:graphicFrameChg chg="modGraphic">
          <ac:chgData name="nishant pandey" userId="0f88c65de0900d03" providerId="LiveId" clId="{D6A65C29-00BF-4EB4-8BD2-C9DFFDBCF784}" dt="2026-03-12T07:50:53.192" v="4744" actId="20577"/>
          <ac:graphicFrameMkLst>
            <pc:docMk/>
            <pc:sldMk cId="1744591971" sldId="293"/>
            <ac:graphicFrameMk id="6" creationId="{7CA6ED12-77C3-B8AC-7ABA-A8978FACB911}"/>
          </ac:graphicFrameMkLst>
        </pc:graphicFrameChg>
      </pc:sldChg>
      <pc:sldChg chg="modSp mod">
        <pc:chgData name="nishant pandey" userId="0f88c65de0900d03" providerId="LiveId" clId="{D6A65C29-00BF-4EB4-8BD2-C9DFFDBCF784}" dt="2026-03-12T07:15:16.209" v="4678" actId="403"/>
        <pc:sldMkLst>
          <pc:docMk/>
          <pc:sldMk cId="2701459080" sldId="295"/>
        </pc:sldMkLst>
        <pc:spChg chg="mod">
          <ac:chgData name="nishant pandey" userId="0f88c65de0900d03" providerId="LiveId" clId="{D6A65C29-00BF-4EB4-8BD2-C9DFFDBCF784}" dt="2026-03-12T07:15:16.209" v="4678" actId="403"/>
          <ac:spMkLst>
            <pc:docMk/>
            <pc:sldMk cId="2701459080" sldId="295"/>
            <ac:spMk id="3" creationId="{0EF0D3C7-5A1C-4916-D8C8-DB14B8086930}"/>
          </ac:spMkLst>
        </pc:spChg>
      </pc:sldChg>
      <pc:sldChg chg="addSp delSp modSp new del mod">
        <pc:chgData name="nishant pandey" userId="0f88c65de0900d03" providerId="LiveId" clId="{D6A65C29-00BF-4EB4-8BD2-C9DFFDBCF784}" dt="2026-03-12T07:44:29.188" v="4728" actId="47"/>
        <pc:sldMkLst>
          <pc:docMk/>
          <pc:sldMk cId="8549425" sldId="296"/>
        </pc:sldMkLst>
        <pc:spChg chg="del">
          <ac:chgData name="nishant pandey" userId="0f88c65de0900d03" providerId="LiveId" clId="{D6A65C29-00BF-4EB4-8BD2-C9DFFDBCF784}" dt="2026-03-12T07:33:19.951" v="4724" actId="22"/>
          <ac:spMkLst>
            <pc:docMk/>
            <pc:sldMk cId="8549425" sldId="296"/>
            <ac:spMk id="3" creationId="{2D72A0E9-C9BC-FB42-621F-E3F48EAB660F}"/>
          </ac:spMkLst>
        </pc:spChg>
        <pc:picChg chg="add mod ord">
          <ac:chgData name="nishant pandey" userId="0f88c65de0900d03" providerId="LiveId" clId="{D6A65C29-00BF-4EB4-8BD2-C9DFFDBCF784}" dt="2026-03-12T07:33:28.246" v="4727" actId="14100"/>
          <ac:picMkLst>
            <pc:docMk/>
            <pc:sldMk cId="8549425" sldId="296"/>
            <ac:picMk id="6" creationId="{C8F3C52E-BD19-5CDB-9802-24C9F5294711}"/>
          </ac:picMkLst>
        </pc:picChg>
      </pc:sldChg>
      <pc:sldChg chg="addSp delSp modSp new del mod">
        <pc:chgData name="nishant pandey" userId="0f88c65de0900d03" providerId="LiveId" clId="{D6A65C29-00BF-4EB4-8BD2-C9DFFDBCF784}" dt="2026-03-12T07:10:28.107" v="4651" actId="47"/>
        <pc:sldMkLst>
          <pc:docMk/>
          <pc:sldMk cId="3922990289" sldId="296"/>
        </pc:sldMkLst>
        <pc:spChg chg="mod">
          <ac:chgData name="nishant pandey" userId="0f88c65de0900d03" providerId="LiveId" clId="{D6A65C29-00BF-4EB4-8BD2-C9DFFDBCF784}" dt="2026-03-12T07:06:39.526" v="4626" actId="20577"/>
          <ac:spMkLst>
            <pc:docMk/>
            <pc:sldMk cId="3922990289" sldId="296"/>
            <ac:spMk id="2" creationId="{0B90305A-32D4-B07A-2188-23813A90F1F2}"/>
          </ac:spMkLst>
        </pc:spChg>
        <pc:spChg chg="del">
          <ac:chgData name="nishant pandey" userId="0f88c65de0900d03" providerId="LiveId" clId="{D6A65C29-00BF-4EB4-8BD2-C9DFFDBCF784}" dt="2026-03-12T07:05:08.876" v="4578"/>
          <ac:spMkLst>
            <pc:docMk/>
            <pc:sldMk cId="3922990289" sldId="296"/>
            <ac:spMk id="3" creationId="{3C465468-D7D3-812D-2DB2-65ACA9DCE501}"/>
          </ac:spMkLst>
        </pc:spChg>
        <pc:picChg chg="add mod ord">
          <ac:chgData name="nishant pandey" userId="0f88c65de0900d03" providerId="LiveId" clId="{D6A65C29-00BF-4EB4-8BD2-C9DFFDBCF784}" dt="2026-03-12T07:05:21.849" v="4580" actId="14100"/>
          <ac:picMkLst>
            <pc:docMk/>
            <pc:sldMk cId="3922990289" sldId="296"/>
            <ac:picMk id="6" creationId="{DEDF02C5-0378-73EA-8652-EAFF8934414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8F0EF-DC9B-7847-6C0A-7813DFD37B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59AFF0A-3AC5-0F90-ABA2-ED90C84BE2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BD58C1-FF33-A545-B84C-2111033F95E1}"/>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5" name="Footer Placeholder 4">
            <a:extLst>
              <a:ext uri="{FF2B5EF4-FFF2-40B4-BE49-F238E27FC236}">
                <a16:creationId xmlns:a16="http://schemas.microsoft.com/office/drawing/2014/main" id="{54AA9FB4-8025-9C93-5EF0-F0649B9EAC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06B85B-D0D1-2F9B-9E67-40D92597E404}"/>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2085136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4B144-9E23-C7EC-B826-9C752E0DC4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922879-C190-2EB6-2A20-C3C5BE376F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A83F3B-7653-6EA1-029E-11F86ED69221}"/>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5" name="Footer Placeholder 4">
            <a:extLst>
              <a:ext uri="{FF2B5EF4-FFF2-40B4-BE49-F238E27FC236}">
                <a16:creationId xmlns:a16="http://schemas.microsoft.com/office/drawing/2014/main" id="{D72BAF2B-7AE8-1F61-4D8C-3F552C2D84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F3DD52-E663-D37F-3F71-2D132D2CA931}"/>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698653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326DF-9672-7FEA-775D-05F94BFD66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012777-C7D3-3300-769A-17F1C433D2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B3EC07-7245-0026-018A-B5E990F37519}"/>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5" name="Footer Placeholder 4">
            <a:extLst>
              <a:ext uri="{FF2B5EF4-FFF2-40B4-BE49-F238E27FC236}">
                <a16:creationId xmlns:a16="http://schemas.microsoft.com/office/drawing/2014/main" id="{2D317A3A-3ADE-A218-ABA1-8D6D3F43BE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879368-19B0-DFEE-F626-7454257CB22E}"/>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2059419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F46DC-2B25-164D-97C9-9F8EE0082D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4007BA-6BB9-EEE1-AE05-38FB081E3F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08CFA0-0442-538C-5DE9-7A35EBD050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C049D83-AA6D-CCB7-A24F-A297668150E7}"/>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6" name="Footer Placeholder 5">
            <a:extLst>
              <a:ext uri="{FF2B5EF4-FFF2-40B4-BE49-F238E27FC236}">
                <a16:creationId xmlns:a16="http://schemas.microsoft.com/office/drawing/2014/main" id="{7CF8C2BB-B898-43B4-C26A-C104C72A7B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C1B55E-C77A-7EC8-26EB-433CA70FDC5A}"/>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242993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191C9-88E2-4501-47A3-D8D98C830C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29AA1E-3020-1D42-E07F-462CDA4B7B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6AA263-C042-62D5-31F7-F88292C0F5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A3FBDAF-91DB-98B1-3EEB-8E0848C693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21035C-0309-8D7A-46DE-4C017B9949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991D09-737F-9516-D50A-076EE22A661A}"/>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8" name="Footer Placeholder 7">
            <a:extLst>
              <a:ext uri="{FF2B5EF4-FFF2-40B4-BE49-F238E27FC236}">
                <a16:creationId xmlns:a16="http://schemas.microsoft.com/office/drawing/2014/main" id="{5F3843CE-6D5E-258F-D291-C176E969DA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31F685-EE99-40F9-4516-EBEF03B6BD76}"/>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3571333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2702-FE87-D8BF-33F2-F24AAD6235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2957425-7D38-A45F-CB2B-33376AF90B30}"/>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4" name="Footer Placeholder 3">
            <a:extLst>
              <a:ext uri="{FF2B5EF4-FFF2-40B4-BE49-F238E27FC236}">
                <a16:creationId xmlns:a16="http://schemas.microsoft.com/office/drawing/2014/main" id="{6B990C9F-990C-519A-6A0D-82FF975CFBB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12A81F0-D1A6-960B-F474-0972D00BC64D}"/>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559139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67FCFF-9156-D73E-AE8D-5629F4122891}"/>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3" name="Footer Placeholder 2">
            <a:extLst>
              <a:ext uri="{FF2B5EF4-FFF2-40B4-BE49-F238E27FC236}">
                <a16:creationId xmlns:a16="http://schemas.microsoft.com/office/drawing/2014/main" id="{B5B960C8-F72B-B719-4B4D-932E6C0F0D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3F984F-348F-020A-6F57-BC0497CBDA35}"/>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709609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F0AD4-0182-6616-16E6-2B54E1885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D11281-88B4-D72C-BF9A-96DAC47264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C73559-F4AA-8E99-DFFF-60028F78E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209861-8BEF-6679-3F92-C2B598C55087}"/>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6" name="Footer Placeholder 5">
            <a:extLst>
              <a:ext uri="{FF2B5EF4-FFF2-40B4-BE49-F238E27FC236}">
                <a16:creationId xmlns:a16="http://schemas.microsoft.com/office/drawing/2014/main" id="{7BA9B300-C199-5319-0B3F-F7559489CA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B3B3E5-C0C6-0125-7EA3-97068EDC2227}"/>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1955255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692A-695A-9FBF-7BCE-00C1A8FFE6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8CE756-F551-E8E0-E576-332C129DF6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C5FD23-CB92-9C3F-4457-1D45F94B5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F5D087-1956-8325-88E8-034386B949C2}"/>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6" name="Footer Placeholder 5">
            <a:extLst>
              <a:ext uri="{FF2B5EF4-FFF2-40B4-BE49-F238E27FC236}">
                <a16:creationId xmlns:a16="http://schemas.microsoft.com/office/drawing/2014/main" id="{50092BE6-ABD1-96E9-F7FC-BF8D8CD4B6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06A828-9095-36B6-53F4-C8B7154BA7C0}"/>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3222110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F4850-DC59-6CEB-1CF4-50C96AD6A3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A762F2-B748-98B3-1741-C7F7DAAF3C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BACA7C-7672-D05C-A3AB-7692FBE9A119}"/>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5" name="Footer Placeholder 4">
            <a:extLst>
              <a:ext uri="{FF2B5EF4-FFF2-40B4-BE49-F238E27FC236}">
                <a16:creationId xmlns:a16="http://schemas.microsoft.com/office/drawing/2014/main" id="{D1DB9AD9-EDDB-0604-2EE0-10EEE07542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B5DE19-B553-DD52-01D5-73CE004378D0}"/>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1666301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9E631B-11AC-94B7-A76B-9DF4AF56E6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2AB410-2B15-C240-B91E-564787A33D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FB7670-54FB-FBE4-B797-ECC3C1BF1B59}"/>
              </a:ext>
            </a:extLst>
          </p:cNvPr>
          <p:cNvSpPr>
            <a:spLocks noGrp="1"/>
          </p:cNvSpPr>
          <p:nvPr>
            <p:ph type="dt" sz="half" idx="10"/>
          </p:nvPr>
        </p:nvSpPr>
        <p:spPr/>
        <p:txBody>
          <a:bodyPr/>
          <a:lstStyle/>
          <a:p>
            <a:fld id="{EE4D547C-A55B-488E-A0D9-79C796599F52}" type="datetimeFigureOut">
              <a:rPr lang="en-IN" smtClean="0"/>
              <a:t>13-03-2026</a:t>
            </a:fld>
            <a:endParaRPr lang="en-IN"/>
          </a:p>
        </p:txBody>
      </p:sp>
      <p:sp>
        <p:nvSpPr>
          <p:cNvPr id="5" name="Footer Placeholder 4">
            <a:extLst>
              <a:ext uri="{FF2B5EF4-FFF2-40B4-BE49-F238E27FC236}">
                <a16:creationId xmlns:a16="http://schemas.microsoft.com/office/drawing/2014/main" id="{9D96DD3B-2993-086A-43AC-C17C1C4429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B3CDF3-7597-787C-438F-D33EC26DC0DF}"/>
              </a:ext>
            </a:extLst>
          </p:cNvPr>
          <p:cNvSpPr>
            <a:spLocks noGrp="1"/>
          </p:cNvSpPr>
          <p:nvPr>
            <p:ph type="sldNum" sz="quarter" idx="12"/>
          </p:nvPr>
        </p:nvSpPr>
        <p:spPr/>
        <p:txBody>
          <a:bodyPr/>
          <a:lstStyle/>
          <a:p>
            <a:fld id="{D95E074B-497A-440B-987D-977AA217FF89}" type="slidenum">
              <a:rPr lang="en-IN" smtClean="0"/>
              <a:t>‹#›</a:t>
            </a:fld>
            <a:endParaRPr lang="en-IN"/>
          </a:p>
        </p:txBody>
      </p:sp>
    </p:spTree>
    <p:extLst>
      <p:ext uri="{BB962C8B-B14F-4D97-AF65-F5344CB8AC3E}">
        <p14:creationId xmlns:p14="http://schemas.microsoft.com/office/powerpoint/2010/main" val="2496334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C37DE2-2959-092B-17FF-68F8E0F1FF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229AA1-37D8-1B99-E09E-252B1281DD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53291D-79F1-56AD-E586-6286FA3C97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4D547C-A55B-488E-A0D9-79C796599F52}" type="datetimeFigureOut">
              <a:rPr lang="en-IN" smtClean="0"/>
              <a:t>13-03-2026</a:t>
            </a:fld>
            <a:endParaRPr lang="en-IN"/>
          </a:p>
        </p:txBody>
      </p:sp>
      <p:sp>
        <p:nvSpPr>
          <p:cNvPr id="5" name="Footer Placeholder 4">
            <a:extLst>
              <a:ext uri="{FF2B5EF4-FFF2-40B4-BE49-F238E27FC236}">
                <a16:creationId xmlns:a16="http://schemas.microsoft.com/office/drawing/2014/main" id="{D13BB5EB-0D0B-A8B2-D686-15100BF5EF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FF9DC76-5B26-68CB-6403-286D89D7CB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5E074B-497A-440B-987D-977AA217FF89}" type="slidenum">
              <a:rPr lang="en-IN" smtClean="0"/>
              <a:t>‹#›</a:t>
            </a:fld>
            <a:endParaRPr lang="en-IN"/>
          </a:p>
        </p:txBody>
      </p:sp>
    </p:spTree>
    <p:extLst>
      <p:ext uri="{BB962C8B-B14F-4D97-AF65-F5344CB8AC3E}">
        <p14:creationId xmlns:p14="http://schemas.microsoft.com/office/powerpoint/2010/main" val="3095234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16.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1C1C-3694-94D2-B4E5-AD94C4B80614}"/>
              </a:ext>
            </a:extLst>
          </p:cNvPr>
          <p:cNvSpPr>
            <a:spLocks noGrp="1"/>
          </p:cNvSpPr>
          <p:nvPr>
            <p:ph type="ctrTitle"/>
          </p:nvPr>
        </p:nvSpPr>
        <p:spPr/>
        <p:txBody>
          <a:bodyPr>
            <a:normAutofit/>
          </a:bodyPr>
          <a:lstStyle/>
          <a:p>
            <a:r>
              <a:rPr lang="en-IN" sz="6600" b="1" dirty="0"/>
              <a:t>PN Junction Diode </a:t>
            </a:r>
          </a:p>
        </p:txBody>
      </p:sp>
      <p:sp>
        <p:nvSpPr>
          <p:cNvPr id="3" name="Subtitle 2">
            <a:extLst>
              <a:ext uri="{FF2B5EF4-FFF2-40B4-BE49-F238E27FC236}">
                <a16:creationId xmlns:a16="http://schemas.microsoft.com/office/drawing/2014/main" id="{0377B0BB-D25A-62D2-89B1-76DF4A2901DE}"/>
              </a:ext>
            </a:extLst>
          </p:cNvPr>
          <p:cNvSpPr>
            <a:spLocks noGrp="1"/>
          </p:cNvSpPr>
          <p:nvPr>
            <p:ph type="subTitle" idx="1"/>
          </p:nvPr>
        </p:nvSpPr>
        <p:spPr>
          <a:xfrm>
            <a:off x="1524000" y="3602038"/>
            <a:ext cx="9144000" cy="1930082"/>
          </a:xfrm>
        </p:spPr>
        <p:txBody>
          <a:bodyPr>
            <a:normAutofit fontScale="92500" lnSpcReduction="20000"/>
          </a:bodyPr>
          <a:lstStyle/>
          <a:p>
            <a:r>
              <a:rPr lang="en-IN" b="1" dirty="0"/>
              <a:t>Under the guidance of </a:t>
            </a:r>
          </a:p>
          <a:p>
            <a:r>
              <a:rPr lang="en-IN" b="1" dirty="0"/>
              <a:t>Prof. Sandip </a:t>
            </a:r>
            <a:r>
              <a:rPr lang="en-IN" b="1" dirty="0" err="1"/>
              <a:t>Lashkare</a:t>
            </a:r>
            <a:r>
              <a:rPr lang="en-IN" b="1" dirty="0"/>
              <a:t> EE</a:t>
            </a:r>
          </a:p>
          <a:p>
            <a:r>
              <a:rPr lang="en-IN" b="1" dirty="0"/>
              <a:t>TA: Yashan Kumar</a:t>
            </a:r>
          </a:p>
          <a:p>
            <a:r>
              <a:rPr lang="en-IN" b="1" dirty="0"/>
              <a:t>by Nishant Pandey (23110221)</a:t>
            </a:r>
          </a:p>
          <a:p>
            <a:r>
              <a:rPr lang="en-IN" b="1" dirty="0"/>
              <a:t>Electrical Engineering IITGN</a:t>
            </a:r>
          </a:p>
        </p:txBody>
      </p:sp>
    </p:spTree>
    <p:extLst>
      <p:ext uri="{BB962C8B-B14F-4D97-AF65-F5344CB8AC3E}">
        <p14:creationId xmlns:p14="http://schemas.microsoft.com/office/powerpoint/2010/main" val="3382867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268CC-CE60-3D8D-ABB9-E74408E1FACF}"/>
              </a:ext>
            </a:extLst>
          </p:cNvPr>
          <p:cNvSpPr>
            <a:spLocks noGrp="1"/>
          </p:cNvSpPr>
          <p:nvPr>
            <p:ph type="title"/>
          </p:nvPr>
        </p:nvSpPr>
        <p:spPr/>
        <p:txBody>
          <a:bodyPr/>
          <a:lstStyle/>
          <a:p>
            <a:r>
              <a:rPr lang="en-US" dirty="0"/>
              <a:t>Motivation</a:t>
            </a:r>
            <a:endParaRPr lang="en-IN" dirty="0"/>
          </a:p>
        </p:txBody>
      </p:sp>
      <p:sp>
        <p:nvSpPr>
          <p:cNvPr id="3" name="Content Placeholder 2">
            <a:extLst>
              <a:ext uri="{FF2B5EF4-FFF2-40B4-BE49-F238E27FC236}">
                <a16:creationId xmlns:a16="http://schemas.microsoft.com/office/drawing/2014/main" id="{C5351E59-6B01-A63A-C34B-F5070138A6C6}"/>
              </a:ext>
            </a:extLst>
          </p:cNvPr>
          <p:cNvSpPr>
            <a:spLocks noGrp="1"/>
          </p:cNvSpPr>
          <p:nvPr>
            <p:ph idx="1"/>
          </p:nvPr>
        </p:nvSpPr>
        <p:spPr>
          <a:xfrm>
            <a:off x="838200" y="1536192"/>
            <a:ext cx="10515600" cy="4640771"/>
          </a:xfrm>
        </p:spPr>
        <p:txBody>
          <a:bodyPr>
            <a:normAutofit fontScale="85000" lnSpcReduction="10000"/>
          </a:bodyPr>
          <a:lstStyle/>
          <a:p>
            <a:pPr marL="0" indent="0">
              <a:buNone/>
            </a:pPr>
            <a:r>
              <a:rPr lang="en-US" sz="1800" dirty="0"/>
              <a:t>This project was motivated by my interest in understanding the physics and design principles of semiconductor devices used for </a:t>
            </a:r>
            <a:r>
              <a:rPr lang="en-US" sz="1800" b="1" dirty="0"/>
              <a:t>Electrostatic Discharge (ESD) protection in integrated circuits</a:t>
            </a:r>
            <a:r>
              <a:rPr lang="en-US" sz="1800" dirty="0"/>
              <a:t>. During the Electronic Devices course, I developed a foundational understanding of PN junction behavior, carrier transport mechanisms, depletion region formation, and electric field distribution in semiconductor materials.</a:t>
            </a:r>
          </a:p>
          <a:p>
            <a:pPr marL="0" indent="0">
              <a:buNone/>
            </a:pPr>
            <a:r>
              <a:rPr lang="en-US" sz="1800" dirty="0"/>
              <a:t>However, theoretical derivations alone do not fully demonstrate how these physical principles influence the </a:t>
            </a:r>
            <a:r>
              <a:rPr lang="en-US" sz="1800" b="1" dirty="0"/>
              <a:t>operation and reliability of real semiconductor protection structures</a:t>
            </a:r>
            <a:r>
              <a:rPr lang="en-US" sz="1800" dirty="0"/>
              <a:t>. In modern integrated circuits, ESD protection devices rely heavily on PN junction behavior and breakdown mechanisms to safely dissipate high transient voltages. Therefore, understanding the electrical characteristics of PN junctions is essential for designing robust ESD protection devices.</a:t>
            </a:r>
          </a:p>
          <a:p>
            <a:pPr marL="0" indent="0">
              <a:buNone/>
            </a:pPr>
            <a:r>
              <a:rPr lang="en-US" sz="1800" dirty="0"/>
              <a:t>Through this project, I aimed to:</a:t>
            </a:r>
          </a:p>
          <a:p>
            <a:r>
              <a:rPr lang="en-US" sz="1800" dirty="0"/>
              <a:t>Apply the concepts learned in the Electronic Devices course to a </a:t>
            </a:r>
            <a:r>
              <a:rPr lang="en-US" sz="1800" b="1" dirty="0"/>
              <a:t>practical TCAD simulation environment</a:t>
            </a:r>
            <a:r>
              <a:rPr lang="en-US" sz="1800" dirty="0"/>
              <a:t>.</a:t>
            </a:r>
          </a:p>
          <a:p>
            <a:r>
              <a:rPr lang="en-US" sz="1800" dirty="0"/>
              <a:t>Study how </a:t>
            </a:r>
            <a:r>
              <a:rPr lang="en-US" sz="1800" b="1" dirty="0"/>
              <a:t>doping concentration, junction profiles, and device geometry</a:t>
            </a:r>
            <a:r>
              <a:rPr lang="en-US" sz="1800" dirty="0"/>
              <a:t> influence electric field distribution and breakdown characteristics.</a:t>
            </a:r>
          </a:p>
          <a:p>
            <a:r>
              <a:rPr lang="en-US" sz="1800" dirty="0"/>
              <a:t>Understand the </a:t>
            </a:r>
            <a:r>
              <a:rPr lang="en-US" sz="1800" b="1" dirty="0"/>
              <a:t>fundamental operation of PN junctions as the core building block of ESD protection devices</a:t>
            </a:r>
            <a:r>
              <a:rPr lang="en-US" sz="1800" dirty="0"/>
              <a:t>.</a:t>
            </a:r>
          </a:p>
          <a:p>
            <a:r>
              <a:rPr lang="en-US" sz="1800" dirty="0"/>
              <a:t>Gain hands-on experience with </a:t>
            </a:r>
            <a:r>
              <a:rPr lang="en-US" sz="1800" b="1" dirty="0"/>
              <a:t>TCAD tools used in semiconductor device and reliability design</a:t>
            </a:r>
            <a:r>
              <a:rPr lang="en-US" sz="1800" dirty="0"/>
              <a:t>.</a:t>
            </a:r>
          </a:p>
          <a:p>
            <a:r>
              <a:rPr lang="en-US" sz="1800" dirty="0"/>
              <a:t>Develop intuition about how microscopic semiconductor physics translates into </a:t>
            </a:r>
            <a:r>
              <a:rPr lang="en-US" sz="1800" b="1" dirty="0"/>
              <a:t>macroscopic ESD protection performance</a:t>
            </a:r>
            <a:r>
              <a:rPr lang="en-US" sz="1800" dirty="0"/>
              <a:t>.</a:t>
            </a:r>
          </a:p>
          <a:p>
            <a:r>
              <a:rPr lang="en-US" sz="1800" dirty="0"/>
              <a:t>Studying the PN junction diode serves as a critical starting point because many ESD protection structures—such as </a:t>
            </a:r>
            <a:r>
              <a:rPr lang="en-US" sz="1800" b="1" dirty="0"/>
              <a:t>diode-based ESD clamps, snapback devices, and other protection elements—are fundamentally based on PN junction behavior</a:t>
            </a:r>
            <a:r>
              <a:rPr lang="en-US" sz="1800" dirty="0"/>
              <a:t>.</a:t>
            </a:r>
          </a:p>
        </p:txBody>
      </p:sp>
    </p:spTree>
    <p:extLst>
      <p:ext uri="{BB962C8B-B14F-4D97-AF65-F5344CB8AC3E}">
        <p14:creationId xmlns:p14="http://schemas.microsoft.com/office/powerpoint/2010/main" val="3209622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C1B32-964D-0D12-32D3-7796047F21D6}"/>
              </a:ext>
            </a:extLst>
          </p:cNvPr>
          <p:cNvSpPr>
            <a:spLocks noGrp="1"/>
          </p:cNvSpPr>
          <p:nvPr>
            <p:ph type="title"/>
          </p:nvPr>
        </p:nvSpPr>
        <p:spPr/>
        <p:txBody>
          <a:bodyPr/>
          <a:lstStyle/>
          <a:p>
            <a:r>
              <a:rPr lang="en-IN" dirty="0"/>
              <a:t>PN diode </a:t>
            </a:r>
            <a:r>
              <a:rPr lang="en-IN" dirty="0" err="1"/>
              <a:t>Sdevice</a:t>
            </a:r>
            <a:r>
              <a:rPr lang="en-IN" dirty="0"/>
              <a:t> model</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2CC890F-50A7-FFC7-BF74-1B7FB7ADD3F0}"/>
                  </a:ext>
                </a:extLst>
              </p:cNvPr>
              <p:cNvSpPr>
                <a:spLocks noGrp="1"/>
              </p:cNvSpPr>
              <p:nvPr>
                <p:ph sz="half" idx="2"/>
              </p:nvPr>
            </p:nvSpPr>
            <p:spPr/>
            <p:txBody>
              <a:bodyPr>
                <a:normAutofit fontScale="62500" lnSpcReduction="20000"/>
              </a:bodyPr>
              <a:lstStyle/>
              <a:p>
                <a:pPr marL="0" indent="0">
                  <a:buNone/>
                </a:pPr>
                <a:r>
                  <a:rPr lang="en-US" sz="2900" dirty="0"/>
                  <a:t>A </a:t>
                </a:r>
                <a:r>
                  <a:rPr lang="en-US" sz="2900" b="1" dirty="0"/>
                  <a:t>PN junction diode</a:t>
                </a:r>
                <a:r>
                  <a:rPr lang="en-US" sz="2900" dirty="0"/>
                  <a:t> is formed by joining </a:t>
                </a:r>
                <a:r>
                  <a:rPr lang="en-US" sz="2900" b="1" dirty="0"/>
                  <a:t>P-type and N-type semiconductors</a:t>
                </a:r>
                <a:r>
                  <a:rPr lang="en-US" sz="2900" dirty="0"/>
                  <a:t>, creating a </a:t>
                </a:r>
                <a:r>
                  <a:rPr lang="en-US" sz="2900" b="1" dirty="0"/>
                  <a:t>depletion region</a:t>
                </a:r>
                <a:r>
                  <a:rPr lang="en-US" sz="2900" dirty="0"/>
                  <a:t> at the junction. It </a:t>
                </a:r>
                <a:r>
                  <a:rPr lang="en-US" sz="2900" b="1" dirty="0"/>
                  <a:t>conducts current in forward bias</a:t>
                </a:r>
                <a:r>
                  <a:rPr lang="en-US" sz="2900" dirty="0"/>
                  <a:t> and </a:t>
                </a:r>
                <a:r>
                  <a:rPr lang="en-US" sz="2900" b="1" dirty="0"/>
                  <a:t>blocks current in reverse bias</a:t>
                </a:r>
                <a:r>
                  <a:rPr lang="en-US" sz="2900" dirty="0"/>
                  <a:t> (except small leakage). It is commonly used in </a:t>
                </a:r>
                <a:r>
                  <a:rPr lang="en-US" sz="2900" b="1" dirty="0"/>
                  <a:t>rectifiers, clipping/clamping circuits, and electronic switching</a:t>
                </a:r>
                <a:r>
                  <a:rPr lang="en-US" sz="2900" dirty="0"/>
                  <a:t>.</a:t>
                </a:r>
              </a:p>
              <a:p>
                <a:pPr marL="0" indent="0">
                  <a:buNone/>
                </a:pPr>
                <a:r>
                  <a:rPr lang="en-US" sz="2900" dirty="0"/>
                  <a:t>The Size of this Model is </a:t>
                </a:r>
                <a:r>
                  <a:rPr lang="en-US" sz="2900" b="1" dirty="0"/>
                  <a:t>3</a:t>
                </a:r>
                <a:r>
                  <a:rPr lang="en-US" sz="2900" dirty="0"/>
                  <a:t> micrometer across the </a:t>
                </a:r>
                <a:r>
                  <a:rPr lang="en-US" sz="2900" b="1" dirty="0"/>
                  <a:t>Y axis</a:t>
                </a:r>
                <a:r>
                  <a:rPr lang="en-US" sz="2900" dirty="0"/>
                  <a:t> and </a:t>
                </a:r>
                <a:r>
                  <a:rPr lang="en-US" sz="2900" b="1" dirty="0"/>
                  <a:t>3.5</a:t>
                </a:r>
                <a:r>
                  <a:rPr lang="en-US" sz="2900" dirty="0"/>
                  <a:t> micrometer across the </a:t>
                </a:r>
                <a:r>
                  <a:rPr lang="en-US" sz="2900" b="1" dirty="0"/>
                  <a:t>X axis</a:t>
                </a:r>
                <a:r>
                  <a:rPr lang="en-US" sz="2900" dirty="0"/>
                  <a:t>.</a:t>
                </a:r>
              </a:p>
              <a:p>
                <a:pPr marL="0" indent="0">
                  <a:buNone/>
                </a:pPr>
                <a:r>
                  <a:rPr lang="en-US" sz="2900" dirty="0"/>
                  <a:t>In this structure, the </a:t>
                </a:r>
                <a:r>
                  <a:rPr lang="en-US" sz="2900" b="1" dirty="0"/>
                  <a:t>blue-colored region is doped with P-type impurities (Boron)</a:t>
                </a:r>
                <a:r>
                  <a:rPr lang="en-US" sz="2900" dirty="0"/>
                  <a:t>, and the </a:t>
                </a:r>
                <a:r>
                  <a:rPr lang="en-US" sz="2900" b="1" dirty="0"/>
                  <a:t>red-colored region is doped with N-type impurities (Phosphorus Arsenic) </a:t>
                </a:r>
                <a:r>
                  <a:rPr lang="en-US" sz="2900" dirty="0"/>
                  <a:t>with both have a concentration </a:t>
                </a:r>
                <a14:m>
                  <m:oMath xmlns:m="http://schemas.openxmlformats.org/officeDocument/2006/math">
                    <m:r>
                      <a:rPr lang="ar-AE" sz="2900">
                        <a:latin typeface="Cambria Math" panose="02040503050406030204" pitchFamily="18" charset="0"/>
                      </a:rPr>
                      <m:t>5</m:t>
                    </m:r>
                    <m:r>
                      <a:rPr lang="ar-AE" sz="2900">
                        <a:latin typeface="Cambria Math" panose="02040503050406030204" pitchFamily="18" charset="0"/>
                      </a:rPr>
                      <m:t>×</m:t>
                    </m:r>
                    <m:sSup>
                      <m:sSupPr>
                        <m:ctrlPr>
                          <a:rPr lang="ar-AE" sz="2900" i="1">
                            <a:latin typeface="Cambria Math" panose="02040503050406030204" pitchFamily="18" charset="0"/>
                          </a:rPr>
                        </m:ctrlPr>
                      </m:sSupPr>
                      <m:e>
                        <m:r>
                          <a:rPr lang="ar-AE" sz="2900">
                            <a:latin typeface="Cambria Math" panose="02040503050406030204" pitchFamily="18" charset="0"/>
                          </a:rPr>
                          <m:t>10</m:t>
                        </m:r>
                      </m:e>
                      <m:sup>
                        <m:r>
                          <a:rPr lang="ar-AE" sz="2900">
                            <a:latin typeface="Cambria Math" panose="02040503050406030204" pitchFamily="18" charset="0"/>
                          </a:rPr>
                          <m:t>17</m:t>
                        </m:r>
                      </m:sup>
                    </m:sSup>
                    <m:r>
                      <m:rPr>
                        <m:nor/>
                      </m:rPr>
                      <a:rPr lang="ar-AE" sz="2900" i="1"/>
                      <m:t> </m:t>
                    </m:r>
                    <m:r>
                      <a:rPr lang="ar-AE" sz="2900" i="1">
                        <a:latin typeface="Cambria Math" panose="02040503050406030204" pitchFamily="18" charset="0"/>
                      </a:rPr>
                      <m:t>𝑐</m:t>
                    </m:r>
                    <m:sSup>
                      <m:sSupPr>
                        <m:ctrlPr>
                          <a:rPr lang="ar-AE" sz="2900" i="1">
                            <a:latin typeface="Cambria Math" panose="02040503050406030204" pitchFamily="18" charset="0"/>
                          </a:rPr>
                        </m:ctrlPr>
                      </m:sSupPr>
                      <m:e>
                        <m:r>
                          <a:rPr lang="ar-AE" sz="2900" i="1">
                            <a:latin typeface="Cambria Math" panose="02040503050406030204" pitchFamily="18" charset="0"/>
                          </a:rPr>
                          <m:t>𝑚</m:t>
                        </m:r>
                      </m:e>
                      <m:sup>
                        <m:r>
                          <a:rPr lang="ar-AE" sz="2900">
                            <a:latin typeface="Cambria Math" panose="02040503050406030204" pitchFamily="18" charset="0"/>
                          </a:rPr>
                          <m:t>−</m:t>
                        </m:r>
                        <m:r>
                          <a:rPr lang="ar-AE" sz="2900">
                            <a:latin typeface="Cambria Math" panose="02040503050406030204" pitchFamily="18" charset="0"/>
                          </a:rPr>
                          <m:t>3</m:t>
                        </m:r>
                      </m:sup>
                    </m:sSup>
                    <m:r>
                      <a:rPr lang="en-US" sz="2900" b="0" i="1" smtClean="0">
                        <a:latin typeface="Cambria Math" panose="02040503050406030204" pitchFamily="18" charset="0"/>
                      </a:rPr>
                      <m:t>.</m:t>
                    </m:r>
                  </m:oMath>
                </a14:m>
                <a:r>
                  <a:rPr lang="en-US" sz="2900" dirty="0"/>
                  <a:t> The P-type region is formed on the left side, followed by the N-type region on the right side, resulting in a PN junction configuration.</a:t>
                </a:r>
              </a:p>
              <a:p>
                <a:endParaRPr lang="en-IN" dirty="0"/>
              </a:p>
            </p:txBody>
          </p:sp>
        </mc:Choice>
        <mc:Fallback>
          <p:sp>
            <p:nvSpPr>
              <p:cNvPr id="4" name="Content Placeholder 3">
                <a:extLst>
                  <a:ext uri="{FF2B5EF4-FFF2-40B4-BE49-F238E27FC236}">
                    <a16:creationId xmlns:a16="http://schemas.microsoft.com/office/drawing/2014/main" id="{B2CC890F-50A7-FFC7-BF74-1B7FB7ADD3F0}"/>
                  </a:ext>
                </a:extLst>
              </p:cNvPr>
              <p:cNvSpPr>
                <a:spLocks noGrp="1" noRot="1" noChangeAspect="1" noMove="1" noResize="1" noEditPoints="1" noAdjustHandles="1" noChangeArrowheads="1" noChangeShapeType="1" noTextEdit="1"/>
              </p:cNvSpPr>
              <p:nvPr>
                <p:ph sz="half" idx="2"/>
              </p:nvPr>
            </p:nvSpPr>
            <p:spPr>
              <a:blipFill>
                <a:blip r:embed="rId2"/>
                <a:stretch>
                  <a:fillRect l="-1059" t="-2101" r="-1529"/>
                </a:stretch>
              </a:blipFill>
            </p:spPr>
            <p:txBody>
              <a:bodyPr/>
              <a:lstStyle/>
              <a:p>
                <a:r>
                  <a:rPr lang="en-IN">
                    <a:noFill/>
                  </a:rPr>
                  <a:t> </a:t>
                </a:r>
              </a:p>
            </p:txBody>
          </p:sp>
        </mc:Fallback>
      </mc:AlternateContent>
      <p:pic>
        <p:nvPicPr>
          <p:cNvPr id="5" name="Content Placeholder 15">
            <a:extLst>
              <a:ext uri="{FF2B5EF4-FFF2-40B4-BE49-F238E27FC236}">
                <a16:creationId xmlns:a16="http://schemas.microsoft.com/office/drawing/2014/main" id="{762FA47E-E4B8-8332-6448-8B4002E9ACBD}"/>
              </a:ext>
            </a:extLst>
          </p:cNvPr>
          <p:cNvPicPr>
            <a:picLocks noGrp="1" noChangeAspect="1"/>
          </p:cNvPicPr>
          <p:nvPr>
            <p:ph sz="half" idx="1"/>
          </p:nvPr>
        </p:nvPicPr>
        <p:blipFill>
          <a:blip r:embed="rId3"/>
          <a:stretch>
            <a:fillRect/>
          </a:stretch>
        </p:blipFill>
        <p:spPr>
          <a:xfrm>
            <a:off x="838200" y="1825625"/>
            <a:ext cx="5181600" cy="4072255"/>
          </a:xfrm>
          <a:prstGeom prst="rect">
            <a:avLst/>
          </a:prstGeom>
        </p:spPr>
      </p:pic>
      <p:sp>
        <p:nvSpPr>
          <p:cNvPr id="3" name="Rectangle 2">
            <a:extLst>
              <a:ext uri="{FF2B5EF4-FFF2-40B4-BE49-F238E27FC236}">
                <a16:creationId xmlns:a16="http://schemas.microsoft.com/office/drawing/2014/main" id="{9608AFC7-7996-802A-7A0E-A1E7A976D4AD}"/>
              </a:ext>
            </a:extLst>
          </p:cNvPr>
          <p:cNvSpPr/>
          <p:nvPr/>
        </p:nvSpPr>
        <p:spPr>
          <a:xfrm>
            <a:off x="838200" y="6099683"/>
            <a:ext cx="5181600" cy="3931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t>PN Junction Diode doping concentration in Equilibrium</a:t>
            </a:r>
          </a:p>
        </p:txBody>
      </p:sp>
    </p:spTree>
    <p:extLst>
      <p:ext uri="{BB962C8B-B14F-4D97-AF65-F5344CB8AC3E}">
        <p14:creationId xmlns:p14="http://schemas.microsoft.com/office/powerpoint/2010/main" val="2974321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7D236-CE54-1B26-4A83-722C04385D2D}"/>
              </a:ext>
            </a:extLst>
          </p:cNvPr>
          <p:cNvSpPr>
            <a:spLocks noGrp="1"/>
          </p:cNvSpPr>
          <p:nvPr>
            <p:ph type="title"/>
          </p:nvPr>
        </p:nvSpPr>
        <p:spPr/>
        <p:txBody>
          <a:bodyPr/>
          <a:lstStyle/>
          <a:p>
            <a:r>
              <a:rPr lang="en-IN" dirty="0"/>
              <a:t>Meshing in the device</a:t>
            </a:r>
          </a:p>
        </p:txBody>
      </p:sp>
      <p:sp>
        <p:nvSpPr>
          <p:cNvPr id="4" name="Content Placeholder 3">
            <a:extLst>
              <a:ext uri="{FF2B5EF4-FFF2-40B4-BE49-F238E27FC236}">
                <a16:creationId xmlns:a16="http://schemas.microsoft.com/office/drawing/2014/main" id="{DD6DA1DB-05EC-2594-6FD2-33B02A3C7A0E}"/>
              </a:ext>
            </a:extLst>
          </p:cNvPr>
          <p:cNvSpPr>
            <a:spLocks noGrp="1"/>
          </p:cNvSpPr>
          <p:nvPr>
            <p:ph sz="half" idx="2"/>
          </p:nvPr>
        </p:nvSpPr>
        <p:spPr/>
        <p:txBody>
          <a:bodyPr>
            <a:normAutofit lnSpcReduction="10000"/>
          </a:bodyPr>
          <a:lstStyle/>
          <a:p>
            <a:pPr marL="0" indent="0">
              <a:buNone/>
            </a:pPr>
            <a:r>
              <a:rPr lang="en-US" sz="2400" dirty="0"/>
              <a:t>In TCAD simulations, meshing divides the PN junction device into small discrete elements, allowing numerical solution of fundamental equations such as Poisson’s equation and the carrier transport equations. Proper mesh refinement ensures accurate calculation of I–V characteristics, depletion region width, and electric field distribution. In contrast, inadequate or coarse meshing may produce inaccurate results and cause convergence problems during simulation.</a:t>
            </a:r>
            <a:endParaRPr lang="en-IN" sz="2400" dirty="0"/>
          </a:p>
          <a:p>
            <a:pPr marL="0" indent="0">
              <a:buNone/>
            </a:pPr>
            <a:endParaRPr lang="en-IN" dirty="0"/>
          </a:p>
        </p:txBody>
      </p:sp>
      <p:pic>
        <p:nvPicPr>
          <p:cNvPr id="5" name="Content Placeholder 4">
            <a:extLst>
              <a:ext uri="{FF2B5EF4-FFF2-40B4-BE49-F238E27FC236}">
                <a16:creationId xmlns:a16="http://schemas.microsoft.com/office/drawing/2014/main" id="{4A50CC1C-0541-8EAC-73A5-77D422A0A15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825625"/>
            <a:ext cx="5181600" cy="4109228"/>
          </a:xfrm>
          <a:prstGeom prst="rect">
            <a:avLst/>
          </a:prstGeom>
        </p:spPr>
      </p:pic>
      <p:sp>
        <p:nvSpPr>
          <p:cNvPr id="3" name="Rectangle 2">
            <a:extLst>
              <a:ext uri="{FF2B5EF4-FFF2-40B4-BE49-F238E27FC236}">
                <a16:creationId xmlns:a16="http://schemas.microsoft.com/office/drawing/2014/main" id="{52990EC8-C15B-0915-0E0C-A7327E43735D}"/>
              </a:ext>
            </a:extLst>
          </p:cNvPr>
          <p:cNvSpPr/>
          <p:nvPr/>
        </p:nvSpPr>
        <p:spPr>
          <a:xfrm>
            <a:off x="838200" y="6099683"/>
            <a:ext cx="5181600" cy="3931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t>PN Diode with Meshing</a:t>
            </a:r>
          </a:p>
        </p:txBody>
      </p:sp>
    </p:spTree>
    <p:extLst>
      <p:ext uri="{BB962C8B-B14F-4D97-AF65-F5344CB8AC3E}">
        <p14:creationId xmlns:p14="http://schemas.microsoft.com/office/powerpoint/2010/main" val="4138419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7F4E0-EF16-CD20-8A08-3FA3B5B8F40C}"/>
              </a:ext>
            </a:extLst>
          </p:cNvPr>
          <p:cNvSpPr>
            <a:spLocks noGrp="1"/>
          </p:cNvSpPr>
          <p:nvPr>
            <p:ph type="title"/>
          </p:nvPr>
        </p:nvSpPr>
        <p:spPr/>
        <p:txBody>
          <a:bodyPr/>
          <a:lstStyle/>
          <a:p>
            <a:r>
              <a:rPr lang="en-IN" b="1" dirty="0"/>
              <a:t> Expression for Depletion Widths</a:t>
            </a:r>
            <a:br>
              <a:rPr lang="en-IN"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93D50E-829D-8D86-10A9-2F199F1A33E1}"/>
                  </a:ext>
                </a:extLst>
              </p:cNvPr>
              <p:cNvSpPr>
                <a:spLocks noGrp="1"/>
              </p:cNvSpPr>
              <p:nvPr>
                <p:ph idx="1"/>
              </p:nvPr>
            </p:nvSpPr>
            <p:spPr>
              <a:xfrm>
                <a:off x="838200" y="1690688"/>
                <a:ext cx="4025202" cy="4351338"/>
              </a:xfrm>
            </p:spPr>
            <p:txBody>
              <a:bodyPr>
                <a:normAutofit/>
              </a:bodyPr>
              <a:lstStyle/>
              <a:p>
                <a:pPr marL="0" indent="0">
                  <a:buNone/>
                </a:pPr>
                <a:r>
                  <a:rPr lang="en-IN" sz="1800" b="1" dirty="0"/>
                  <a:t>Depletion width in n-side</a:t>
                </a:r>
                <a:endParaRPr lang="en-IN" sz="1800" dirty="0"/>
              </a:p>
              <a:p>
                <a:pPr marL="0" indent="0">
                  <a:buNone/>
                </a:pPr>
                <a14:m>
                  <m:oMathPara xmlns:m="http://schemas.openxmlformats.org/officeDocument/2006/math">
                    <m:oMathParaPr>
                      <m:jc m:val="centerGroup"/>
                    </m:oMathParaPr>
                    <m:oMath xmlns:m="http://schemas.openxmlformats.org/officeDocument/2006/math">
                      <m:sSub>
                        <m:sSubPr>
                          <m:ctrlPr>
                            <a:rPr lang="en-IN" sz="1800" i="1">
                              <a:latin typeface="Cambria Math" panose="02040503050406030204" pitchFamily="18" charset="0"/>
                            </a:rPr>
                          </m:ctrlPr>
                        </m:sSubPr>
                        <m:e>
                          <m:r>
                            <a:rPr lang="en-IN" sz="1800" i="1">
                              <a:latin typeface="Cambria Math" panose="02040503050406030204" pitchFamily="18" charset="0"/>
                            </a:rPr>
                            <m:t>𝑥</m:t>
                          </m:r>
                        </m:e>
                        <m:sub>
                          <m:r>
                            <a:rPr lang="en-IN" sz="1800" i="1">
                              <a:latin typeface="Cambria Math" panose="02040503050406030204" pitchFamily="18" charset="0"/>
                            </a:rPr>
                            <m:t>𝑛</m:t>
                          </m:r>
                        </m:sub>
                      </m:sSub>
                      <m:r>
                        <a:rPr lang="en-IN" sz="1800" i="1">
                          <a:latin typeface="Cambria Math" panose="02040503050406030204" pitchFamily="18" charset="0"/>
                        </a:rPr>
                        <m:t>=</m:t>
                      </m:r>
                      <m:rad>
                        <m:radPr>
                          <m:degHide m:val="on"/>
                          <m:ctrlPr>
                            <a:rPr lang="en-IN" sz="1800" i="1">
                              <a:latin typeface="Cambria Math" panose="02040503050406030204" pitchFamily="18" charset="0"/>
                            </a:rPr>
                          </m:ctrlPr>
                        </m:radPr>
                        <m:deg/>
                        <m:e>
                          <m:f>
                            <m:fPr>
                              <m:ctrlPr>
                                <a:rPr lang="en-IN" sz="1800" i="1">
                                  <a:latin typeface="Cambria Math" panose="02040503050406030204" pitchFamily="18" charset="0"/>
                                </a:rPr>
                              </m:ctrlPr>
                            </m:fPr>
                            <m:num>
                              <m:r>
                                <a:rPr lang="en-IN" sz="1800" i="1">
                                  <a:latin typeface="Cambria Math" panose="02040503050406030204" pitchFamily="18" charset="0"/>
                                </a:rPr>
                                <m:t>2</m:t>
                              </m:r>
                              <m:r>
                                <a:rPr lang="en-IN" sz="1800" i="1">
                                  <a:latin typeface="Cambria Math" panose="02040503050406030204" pitchFamily="18" charset="0"/>
                                </a:rPr>
                                <m:t>𝜀</m:t>
                              </m:r>
                              <m:sSub>
                                <m:sSubPr>
                                  <m:ctrlPr>
                                    <a:rPr lang="en-IN" sz="1800" i="1">
                                      <a:latin typeface="Cambria Math" panose="02040503050406030204" pitchFamily="18" charset="0"/>
                                    </a:rPr>
                                  </m:ctrlPr>
                                </m:sSubPr>
                                <m:e>
                                  <m:r>
                                    <a:rPr lang="en-IN" sz="1800" i="1">
                                      <a:latin typeface="Cambria Math" panose="02040503050406030204" pitchFamily="18" charset="0"/>
                                    </a:rPr>
                                    <m:t>𝑉</m:t>
                                  </m:r>
                                </m:e>
                                <m:sub>
                                  <m:r>
                                    <a:rPr lang="en-IN" sz="1800" i="1">
                                      <a:latin typeface="Cambria Math" panose="02040503050406030204" pitchFamily="18" charset="0"/>
                                    </a:rPr>
                                    <m:t>𝑏𝑖</m:t>
                                  </m:r>
                                </m:sub>
                              </m:sSub>
                            </m:num>
                            <m:den>
                              <m:r>
                                <a:rPr lang="en-IN" sz="1800" i="1">
                                  <a:latin typeface="Cambria Math" panose="02040503050406030204" pitchFamily="18" charset="0"/>
                                </a:rPr>
                                <m:t>𝑞</m:t>
                              </m:r>
                            </m:den>
                          </m:f>
                          <m:r>
                            <a:rPr lang="en-IN" sz="1800" i="1">
                              <a:latin typeface="Cambria Math" panose="02040503050406030204" pitchFamily="18" charset="0"/>
                            </a:rPr>
                            <m:t>⋅</m:t>
                          </m:r>
                          <m:f>
                            <m:fPr>
                              <m:ctrlPr>
                                <a:rPr lang="en-IN" sz="1800" i="1">
                                  <a:latin typeface="Cambria Math" panose="02040503050406030204" pitchFamily="18" charset="0"/>
                                </a:rPr>
                              </m:ctrlPr>
                            </m:fPr>
                            <m:num>
                              <m:sSub>
                                <m:sSubPr>
                                  <m:ctrlPr>
                                    <a:rPr lang="en-IN" sz="1800" i="1">
                                      <a:latin typeface="Cambria Math" panose="02040503050406030204" pitchFamily="18" charset="0"/>
                                    </a:rPr>
                                  </m:ctrlPr>
                                </m:sSubPr>
                                <m:e>
                                  <m:r>
                                    <a:rPr lang="en-IN" sz="1800" i="1">
                                      <a:latin typeface="Cambria Math" panose="02040503050406030204" pitchFamily="18" charset="0"/>
                                    </a:rPr>
                                    <m:t>𝑁</m:t>
                                  </m:r>
                                </m:e>
                                <m:sub>
                                  <m:r>
                                    <a:rPr lang="en-IN" sz="1800" i="1">
                                      <a:latin typeface="Cambria Math" panose="02040503050406030204" pitchFamily="18" charset="0"/>
                                    </a:rPr>
                                    <m:t>𝐴</m:t>
                                  </m:r>
                                </m:sub>
                              </m:sSub>
                            </m:num>
                            <m:den>
                              <m:sSub>
                                <m:sSubPr>
                                  <m:ctrlPr>
                                    <a:rPr lang="en-IN" sz="1800" i="1">
                                      <a:latin typeface="Cambria Math" panose="02040503050406030204" pitchFamily="18" charset="0"/>
                                    </a:rPr>
                                  </m:ctrlPr>
                                </m:sSubPr>
                                <m:e>
                                  <m:r>
                                    <a:rPr lang="en-IN" sz="1800" i="1">
                                      <a:latin typeface="Cambria Math" panose="02040503050406030204" pitchFamily="18" charset="0"/>
                                    </a:rPr>
                                    <m:t>𝑁</m:t>
                                  </m:r>
                                </m:e>
                                <m:sub>
                                  <m:r>
                                    <a:rPr lang="en-IN" sz="1800" i="1">
                                      <a:latin typeface="Cambria Math" panose="02040503050406030204" pitchFamily="18" charset="0"/>
                                    </a:rPr>
                                    <m:t>𝐷</m:t>
                                  </m:r>
                                </m:sub>
                              </m:sSub>
                              <m:r>
                                <a:rPr lang="en-IN" sz="1800" i="1">
                                  <a:latin typeface="Cambria Math" panose="02040503050406030204" pitchFamily="18" charset="0"/>
                                </a:rPr>
                                <m:t>(</m:t>
                              </m:r>
                              <m:sSub>
                                <m:sSubPr>
                                  <m:ctrlPr>
                                    <a:rPr lang="en-IN" sz="1800" i="1">
                                      <a:latin typeface="Cambria Math" panose="02040503050406030204" pitchFamily="18" charset="0"/>
                                    </a:rPr>
                                  </m:ctrlPr>
                                </m:sSubPr>
                                <m:e>
                                  <m:r>
                                    <a:rPr lang="en-IN" sz="1800" i="1">
                                      <a:latin typeface="Cambria Math" panose="02040503050406030204" pitchFamily="18" charset="0"/>
                                    </a:rPr>
                                    <m:t>𝑁</m:t>
                                  </m:r>
                                </m:e>
                                <m:sub>
                                  <m:r>
                                    <a:rPr lang="en-IN" sz="1800" i="1">
                                      <a:latin typeface="Cambria Math" panose="02040503050406030204" pitchFamily="18" charset="0"/>
                                    </a:rPr>
                                    <m:t>𝐴</m:t>
                                  </m:r>
                                </m:sub>
                              </m:sSub>
                              <m:r>
                                <a:rPr lang="en-IN" sz="1800" i="1">
                                  <a:latin typeface="Cambria Math" panose="02040503050406030204" pitchFamily="18" charset="0"/>
                                </a:rPr>
                                <m:t>+</m:t>
                              </m:r>
                              <m:sSub>
                                <m:sSubPr>
                                  <m:ctrlPr>
                                    <a:rPr lang="en-IN" sz="1800" i="1">
                                      <a:latin typeface="Cambria Math" panose="02040503050406030204" pitchFamily="18" charset="0"/>
                                    </a:rPr>
                                  </m:ctrlPr>
                                </m:sSubPr>
                                <m:e>
                                  <m:r>
                                    <a:rPr lang="en-IN" sz="1800" i="1">
                                      <a:latin typeface="Cambria Math" panose="02040503050406030204" pitchFamily="18" charset="0"/>
                                    </a:rPr>
                                    <m:t>𝑁</m:t>
                                  </m:r>
                                </m:e>
                                <m:sub>
                                  <m:r>
                                    <a:rPr lang="en-IN" sz="1800" i="1">
                                      <a:latin typeface="Cambria Math" panose="02040503050406030204" pitchFamily="18" charset="0"/>
                                    </a:rPr>
                                    <m:t>𝐷</m:t>
                                  </m:r>
                                </m:sub>
                              </m:sSub>
                              <m:r>
                                <a:rPr lang="en-IN" sz="1800" i="1">
                                  <a:latin typeface="Cambria Math" panose="02040503050406030204" pitchFamily="18" charset="0"/>
                                </a:rPr>
                                <m:t>)</m:t>
                              </m:r>
                            </m:den>
                          </m:f>
                        </m:e>
                      </m:rad>
                    </m:oMath>
                  </m:oMathPara>
                </a14:m>
                <a:br>
                  <a:rPr lang="en-IN" sz="1800" dirty="0"/>
                </a:br>
                <a:r>
                  <a:rPr lang="en-IN" sz="1800" b="1" dirty="0"/>
                  <a:t>Depletion width in p-side</a:t>
                </a:r>
                <a:endParaRPr lang="en-IN" sz="1800" dirty="0"/>
              </a:p>
              <a:p>
                <a:pPr marL="0" indent="0">
                  <a:buNone/>
                </a:pPr>
                <a14:m>
                  <m:oMathPara xmlns:m="http://schemas.openxmlformats.org/officeDocument/2006/math">
                    <m:oMathParaPr>
                      <m:jc m:val="centerGroup"/>
                    </m:oMathParaPr>
                    <m:oMath xmlns:m="http://schemas.openxmlformats.org/officeDocument/2006/math">
                      <m:sSub>
                        <m:sSubPr>
                          <m:ctrlPr>
                            <a:rPr lang="en-IN" sz="1800" i="1">
                              <a:latin typeface="Cambria Math" panose="02040503050406030204" pitchFamily="18" charset="0"/>
                            </a:rPr>
                          </m:ctrlPr>
                        </m:sSubPr>
                        <m:e>
                          <m:r>
                            <a:rPr lang="en-IN" sz="1800" i="1">
                              <a:latin typeface="Cambria Math" panose="02040503050406030204" pitchFamily="18" charset="0"/>
                            </a:rPr>
                            <m:t>𝑥</m:t>
                          </m:r>
                        </m:e>
                        <m:sub>
                          <m:r>
                            <a:rPr lang="en-IN" sz="1800" i="1">
                              <a:latin typeface="Cambria Math" panose="02040503050406030204" pitchFamily="18" charset="0"/>
                            </a:rPr>
                            <m:t>𝑝</m:t>
                          </m:r>
                        </m:sub>
                      </m:sSub>
                      <m:r>
                        <a:rPr lang="en-IN" sz="1800" i="1">
                          <a:latin typeface="Cambria Math" panose="02040503050406030204" pitchFamily="18" charset="0"/>
                        </a:rPr>
                        <m:t>=</m:t>
                      </m:r>
                      <m:rad>
                        <m:radPr>
                          <m:degHide m:val="on"/>
                          <m:ctrlPr>
                            <a:rPr lang="en-IN" sz="1800" i="1">
                              <a:latin typeface="Cambria Math" panose="02040503050406030204" pitchFamily="18" charset="0"/>
                            </a:rPr>
                          </m:ctrlPr>
                        </m:radPr>
                        <m:deg/>
                        <m:e>
                          <m:f>
                            <m:fPr>
                              <m:ctrlPr>
                                <a:rPr lang="en-IN" sz="1800" i="1">
                                  <a:latin typeface="Cambria Math" panose="02040503050406030204" pitchFamily="18" charset="0"/>
                                </a:rPr>
                              </m:ctrlPr>
                            </m:fPr>
                            <m:num>
                              <m:r>
                                <a:rPr lang="en-IN" sz="1800" i="1">
                                  <a:latin typeface="Cambria Math" panose="02040503050406030204" pitchFamily="18" charset="0"/>
                                </a:rPr>
                                <m:t>2</m:t>
                              </m:r>
                              <m:r>
                                <a:rPr lang="en-IN" sz="1800" i="1">
                                  <a:latin typeface="Cambria Math" panose="02040503050406030204" pitchFamily="18" charset="0"/>
                                </a:rPr>
                                <m:t>𝜀</m:t>
                              </m:r>
                              <m:sSub>
                                <m:sSubPr>
                                  <m:ctrlPr>
                                    <a:rPr lang="en-IN" sz="1800" i="1">
                                      <a:latin typeface="Cambria Math" panose="02040503050406030204" pitchFamily="18" charset="0"/>
                                    </a:rPr>
                                  </m:ctrlPr>
                                </m:sSubPr>
                                <m:e>
                                  <m:r>
                                    <a:rPr lang="en-IN" sz="1800" i="1">
                                      <a:latin typeface="Cambria Math" panose="02040503050406030204" pitchFamily="18" charset="0"/>
                                    </a:rPr>
                                    <m:t>𝑉</m:t>
                                  </m:r>
                                </m:e>
                                <m:sub>
                                  <m:r>
                                    <a:rPr lang="en-IN" sz="1800" i="1">
                                      <a:latin typeface="Cambria Math" panose="02040503050406030204" pitchFamily="18" charset="0"/>
                                    </a:rPr>
                                    <m:t>𝑏𝑖</m:t>
                                  </m:r>
                                </m:sub>
                              </m:sSub>
                            </m:num>
                            <m:den>
                              <m:r>
                                <a:rPr lang="en-IN" sz="1800" i="1">
                                  <a:latin typeface="Cambria Math" panose="02040503050406030204" pitchFamily="18" charset="0"/>
                                </a:rPr>
                                <m:t>𝑞</m:t>
                              </m:r>
                            </m:den>
                          </m:f>
                          <m:r>
                            <a:rPr lang="en-IN" sz="1800" i="1">
                              <a:latin typeface="Cambria Math" panose="02040503050406030204" pitchFamily="18" charset="0"/>
                            </a:rPr>
                            <m:t>⋅</m:t>
                          </m:r>
                          <m:f>
                            <m:fPr>
                              <m:ctrlPr>
                                <a:rPr lang="en-IN" sz="1800" i="1">
                                  <a:latin typeface="Cambria Math" panose="02040503050406030204" pitchFamily="18" charset="0"/>
                                </a:rPr>
                              </m:ctrlPr>
                            </m:fPr>
                            <m:num>
                              <m:sSub>
                                <m:sSubPr>
                                  <m:ctrlPr>
                                    <a:rPr lang="en-IN" sz="1800" i="1">
                                      <a:latin typeface="Cambria Math" panose="02040503050406030204" pitchFamily="18" charset="0"/>
                                    </a:rPr>
                                  </m:ctrlPr>
                                </m:sSubPr>
                                <m:e>
                                  <m:r>
                                    <a:rPr lang="en-IN" sz="1800" i="1">
                                      <a:latin typeface="Cambria Math" panose="02040503050406030204" pitchFamily="18" charset="0"/>
                                    </a:rPr>
                                    <m:t>𝑁</m:t>
                                  </m:r>
                                </m:e>
                                <m:sub>
                                  <m:r>
                                    <a:rPr lang="en-IN" sz="1800" i="1">
                                      <a:latin typeface="Cambria Math" panose="02040503050406030204" pitchFamily="18" charset="0"/>
                                    </a:rPr>
                                    <m:t>𝐷</m:t>
                                  </m:r>
                                </m:sub>
                              </m:sSub>
                            </m:num>
                            <m:den>
                              <m:sSub>
                                <m:sSubPr>
                                  <m:ctrlPr>
                                    <a:rPr lang="en-IN" sz="1800" i="1">
                                      <a:latin typeface="Cambria Math" panose="02040503050406030204" pitchFamily="18" charset="0"/>
                                    </a:rPr>
                                  </m:ctrlPr>
                                </m:sSubPr>
                                <m:e>
                                  <m:r>
                                    <a:rPr lang="en-IN" sz="1800" i="1">
                                      <a:latin typeface="Cambria Math" panose="02040503050406030204" pitchFamily="18" charset="0"/>
                                    </a:rPr>
                                    <m:t>𝑁</m:t>
                                  </m:r>
                                </m:e>
                                <m:sub>
                                  <m:r>
                                    <a:rPr lang="en-IN" sz="1800" i="1">
                                      <a:latin typeface="Cambria Math" panose="02040503050406030204" pitchFamily="18" charset="0"/>
                                    </a:rPr>
                                    <m:t>𝐴</m:t>
                                  </m:r>
                                </m:sub>
                              </m:sSub>
                              <m:r>
                                <a:rPr lang="en-IN" sz="1800" i="1">
                                  <a:latin typeface="Cambria Math" panose="02040503050406030204" pitchFamily="18" charset="0"/>
                                </a:rPr>
                                <m:t>(</m:t>
                              </m:r>
                              <m:sSub>
                                <m:sSubPr>
                                  <m:ctrlPr>
                                    <a:rPr lang="en-IN" sz="1800" i="1">
                                      <a:latin typeface="Cambria Math" panose="02040503050406030204" pitchFamily="18" charset="0"/>
                                    </a:rPr>
                                  </m:ctrlPr>
                                </m:sSubPr>
                                <m:e>
                                  <m:r>
                                    <a:rPr lang="en-IN" sz="1800" i="1">
                                      <a:latin typeface="Cambria Math" panose="02040503050406030204" pitchFamily="18" charset="0"/>
                                    </a:rPr>
                                    <m:t>𝑁</m:t>
                                  </m:r>
                                </m:e>
                                <m:sub>
                                  <m:r>
                                    <a:rPr lang="en-IN" sz="1800" i="1">
                                      <a:latin typeface="Cambria Math" panose="02040503050406030204" pitchFamily="18" charset="0"/>
                                    </a:rPr>
                                    <m:t>𝐴</m:t>
                                  </m:r>
                                </m:sub>
                              </m:sSub>
                              <m:r>
                                <a:rPr lang="en-IN" sz="1800" i="1">
                                  <a:latin typeface="Cambria Math" panose="02040503050406030204" pitchFamily="18" charset="0"/>
                                </a:rPr>
                                <m:t>+</m:t>
                              </m:r>
                              <m:sSub>
                                <m:sSubPr>
                                  <m:ctrlPr>
                                    <a:rPr lang="en-IN" sz="1800" i="1">
                                      <a:latin typeface="Cambria Math" panose="02040503050406030204" pitchFamily="18" charset="0"/>
                                    </a:rPr>
                                  </m:ctrlPr>
                                </m:sSubPr>
                                <m:e>
                                  <m:r>
                                    <a:rPr lang="en-IN" sz="1800" i="1">
                                      <a:latin typeface="Cambria Math" panose="02040503050406030204" pitchFamily="18" charset="0"/>
                                    </a:rPr>
                                    <m:t>𝑁</m:t>
                                  </m:r>
                                </m:e>
                                <m:sub>
                                  <m:r>
                                    <a:rPr lang="en-IN" sz="1800" i="1">
                                      <a:latin typeface="Cambria Math" panose="02040503050406030204" pitchFamily="18" charset="0"/>
                                    </a:rPr>
                                    <m:t>𝐷</m:t>
                                  </m:r>
                                </m:sub>
                              </m:sSub>
                              <m:r>
                                <a:rPr lang="en-IN" sz="1800" i="1">
                                  <a:latin typeface="Cambria Math" panose="02040503050406030204" pitchFamily="18" charset="0"/>
                                </a:rPr>
                                <m:t>)</m:t>
                              </m:r>
                            </m:den>
                          </m:f>
                        </m:e>
                      </m:rad>
                    </m:oMath>
                  </m:oMathPara>
                </a14:m>
                <a:br>
                  <a:rPr lang="en-IN" sz="1800" dirty="0"/>
                </a:br>
                <a:endParaRPr lang="en-IN" sz="1800" dirty="0"/>
              </a:p>
              <a:p>
                <a:pPr marL="0" indent="0">
                  <a:buNone/>
                </a:pPr>
                <a:r>
                  <a:rPr lang="en-IN" sz="1800" b="1" dirty="0"/>
                  <a:t> Total Depletion Width</a:t>
                </a:r>
                <a:endParaRPr lang="en-IN" sz="1800" dirty="0"/>
              </a:p>
              <a:p>
                <a:pPr marL="0" indent="0">
                  <a:buNone/>
                </a:pPr>
                <a14:m>
                  <m:oMathPara xmlns:m="http://schemas.openxmlformats.org/officeDocument/2006/math">
                    <m:oMathParaPr>
                      <m:jc m:val="centerGroup"/>
                    </m:oMathParaPr>
                    <m:oMath xmlns:m="http://schemas.openxmlformats.org/officeDocument/2006/math">
                      <m:r>
                        <a:rPr lang="en-IN" sz="1800" i="1">
                          <a:latin typeface="Cambria Math" panose="02040503050406030204" pitchFamily="18" charset="0"/>
                        </a:rPr>
                        <m:t>𝑊</m:t>
                      </m:r>
                      <m:r>
                        <a:rPr lang="en-IN" sz="1800" i="1">
                          <a:latin typeface="Cambria Math" panose="02040503050406030204" pitchFamily="18" charset="0"/>
                        </a:rPr>
                        <m:t>=</m:t>
                      </m:r>
                      <m:sSub>
                        <m:sSubPr>
                          <m:ctrlPr>
                            <a:rPr lang="en-IN" sz="1800" i="1">
                              <a:latin typeface="Cambria Math" panose="02040503050406030204" pitchFamily="18" charset="0"/>
                            </a:rPr>
                          </m:ctrlPr>
                        </m:sSubPr>
                        <m:e>
                          <m:r>
                            <a:rPr lang="en-IN" sz="1800" i="1">
                              <a:latin typeface="Cambria Math" panose="02040503050406030204" pitchFamily="18" charset="0"/>
                            </a:rPr>
                            <m:t>𝑥</m:t>
                          </m:r>
                        </m:e>
                        <m:sub>
                          <m:r>
                            <a:rPr lang="en-IN" sz="1800" i="1">
                              <a:latin typeface="Cambria Math" panose="02040503050406030204" pitchFamily="18" charset="0"/>
                            </a:rPr>
                            <m:t>𝑛</m:t>
                          </m:r>
                        </m:sub>
                      </m:sSub>
                      <m:r>
                        <a:rPr lang="en-IN" sz="1800" i="1">
                          <a:latin typeface="Cambria Math" panose="02040503050406030204" pitchFamily="18" charset="0"/>
                        </a:rPr>
                        <m:t>+</m:t>
                      </m:r>
                      <m:sSub>
                        <m:sSubPr>
                          <m:ctrlPr>
                            <a:rPr lang="en-IN" sz="1800" i="1">
                              <a:latin typeface="Cambria Math" panose="02040503050406030204" pitchFamily="18" charset="0"/>
                            </a:rPr>
                          </m:ctrlPr>
                        </m:sSubPr>
                        <m:e>
                          <m:r>
                            <a:rPr lang="en-IN" sz="1800" i="1">
                              <a:latin typeface="Cambria Math" panose="02040503050406030204" pitchFamily="18" charset="0"/>
                            </a:rPr>
                            <m:t>𝑥</m:t>
                          </m:r>
                        </m:e>
                        <m:sub>
                          <m:r>
                            <a:rPr lang="en-IN" sz="1800" i="1">
                              <a:latin typeface="Cambria Math" panose="02040503050406030204" pitchFamily="18" charset="0"/>
                            </a:rPr>
                            <m:t>𝑝</m:t>
                          </m:r>
                        </m:sub>
                      </m:sSub>
                    </m:oMath>
                    <m:oMath xmlns:m="http://schemas.openxmlformats.org/officeDocument/2006/math">
                      <m:r>
                        <a:rPr lang="en-IN" sz="1800" i="1">
                          <a:latin typeface="Cambria Math" panose="02040503050406030204" pitchFamily="18" charset="0"/>
                        </a:rPr>
                        <m:t>𝑊</m:t>
                      </m:r>
                      <m:r>
                        <a:rPr lang="en-IN" sz="1800" i="1">
                          <a:latin typeface="Cambria Math" panose="02040503050406030204" pitchFamily="18" charset="0"/>
                        </a:rPr>
                        <m:t>=</m:t>
                      </m:r>
                      <m:rad>
                        <m:radPr>
                          <m:degHide m:val="on"/>
                          <m:ctrlPr>
                            <a:rPr lang="en-IN" sz="1800" i="1">
                              <a:latin typeface="Cambria Math" panose="02040503050406030204" pitchFamily="18" charset="0"/>
                            </a:rPr>
                          </m:ctrlPr>
                        </m:radPr>
                        <m:deg/>
                        <m:e>
                          <m:f>
                            <m:fPr>
                              <m:ctrlPr>
                                <a:rPr lang="en-IN" sz="1800" i="1">
                                  <a:latin typeface="Cambria Math" panose="02040503050406030204" pitchFamily="18" charset="0"/>
                                </a:rPr>
                              </m:ctrlPr>
                            </m:fPr>
                            <m:num>
                              <m:r>
                                <a:rPr lang="en-IN" sz="1800" i="1">
                                  <a:latin typeface="Cambria Math" panose="02040503050406030204" pitchFamily="18" charset="0"/>
                                </a:rPr>
                                <m:t>2</m:t>
                              </m:r>
                              <m:r>
                                <a:rPr lang="en-IN" sz="1800" i="1">
                                  <a:latin typeface="Cambria Math" panose="02040503050406030204" pitchFamily="18" charset="0"/>
                                </a:rPr>
                                <m:t>𝜀</m:t>
                              </m:r>
                              <m:sSub>
                                <m:sSubPr>
                                  <m:ctrlPr>
                                    <a:rPr lang="en-IN" sz="1800" i="1">
                                      <a:latin typeface="Cambria Math" panose="02040503050406030204" pitchFamily="18" charset="0"/>
                                    </a:rPr>
                                  </m:ctrlPr>
                                </m:sSubPr>
                                <m:e>
                                  <m:r>
                                    <a:rPr lang="en-IN" sz="1800" i="1">
                                      <a:latin typeface="Cambria Math" panose="02040503050406030204" pitchFamily="18" charset="0"/>
                                    </a:rPr>
                                    <m:t>𝑉</m:t>
                                  </m:r>
                                </m:e>
                                <m:sub>
                                  <m:r>
                                    <a:rPr lang="en-IN" sz="1800" i="1">
                                      <a:latin typeface="Cambria Math" panose="02040503050406030204" pitchFamily="18" charset="0"/>
                                    </a:rPr>
                                    <m:t>𝑏𝑖</m:t>
                                  </m:r>
                                </m:sub>
                              </m:sSub>
                            </m:num>
                            <m:den>
                              <m:r>
                                <a:rPr lang="en-IN" sz="1800" i="1">
                                  <a:latin typeface="Cambria Math" panose="02040503050406030204" pitchFamily="18" charset="0"/>
                                </a:rPr>
                                <m:t>𝑞</m:t>
                              </m:r>
                            </m:den>
                          </m:f>
                          <m:d>
                            <m:dPr>
                              <m:sepChr m:val="+"/>
                              <m:ctrlPr>
                                <a:rPr lang="en-IN" sz="1800" i="1">
                                  <a:latin typeface="Cambria Math" panose="02040503050406030204" pitchFamily="18" charset="0"/>
                                </a:rPr>
                              </m:ctrlPr>
                            </m:dPr>
                            <m:e>
                              <m:f>
                                <m:fPr>
                                  <m:ctrlPr>
                                    <a:rPr lang="en-IN" sz="1800" i="1">
                                      <a:latin typeface="Cambria Math" panose="02040503050406030204" pitchFamily="18" charset="0"/>
                                    </a:rPr>
                                  </m:ctrlPr>
                                </m:fPr>
                                <m:num>
                                  <m:r>
                                    <a:rPr lang="en-IN" sz="1800" i="1">
                                      <a:latin typeface="Cambria Math" panose="02040503050406030204" pitchFamily="18" charset="0"/>
                                    </a:rPr>
                                    <m:t>1</m:t>
                                  </m:r>
                                </m:num>
                                <m:den>
                                  <m:sSub>
                                    <m:sSubPr>
                                      <m:ctrlPr>
                                        <a:rPr lang="en-IN" sz="1800" i="1">
                                          <a:latin typeface="Cambria Math" panose="02040503050406030204" pitchFamily="18" charset="0"/>
                                        </a:rPr>
                                      </m:ctrlPr>
                                    </m:sSubPr>
                                    <m:e>
                                      <m:r>
                                        <a:rPr lang="en-IN" sz="1800" i="1">
                                          <a:latin typeface="Cambria Math" panose="02040503050406030204" pitchFamily="18" charset="0"/>
                                        </a:rPr>
                                        <m:t>𝑁</m:t>
                                      </m:r>
                                    </m:e>
                                    <m:sub>
                                      <m:r>
                                        <a:rPr lang="en-IN" sz="1800" i="1">
                                          <a:latin typeface="Cambria Math" panose="02040503050406030204" pitchFamily="18" charset="0"/>
                                        </a:rPr>
                                        <m:t>𝐴</m:t>
                                      </m:r>
                                    </m:sub>
                                  </m:sSub>
                                </m:den>
                              </m:f>
                            </m:e>
                            <m:e>
                              <m:f>
                                <m:fPr>
                                  <m:ctrlPr>
                                    <a:rPr lang="en-IN" sz="1800" i="1">
                                      <a:latin typeface="Cambria Math" panose="02040503050406030204" pitchFamily="18" charset="0"/>
                                    </a:rPr>
                                  </m:ctrlPr>
                                </m:fPr>
                                <m:num>
                                  <m:r>
                                    <a:rPr lang="en-IN" sz="1800" i="1">
                                      <a:latin typeface="Cambria Math" panose="02040503050406030204" pitchFamily="18" charset="0"/>
                                    </a:rPr>
                                    <m:t>1</m:t>
                                  </m:r>
                                </m:num>
                                <m:den>
                                  <m:sSub>
                                    <m:sSubPr>
                                      <m:ctrlPr>
                                        <a:rPr lang="en-IN" sz="1800" i="1">
                                          <a:latin typeface="Cambria Math" panose="02040503050406030204" pitchFamily="18" charset="0"/>
                                        </a:rPr>
                                      </m:ctrlPr>
                                    </m:sSubPr>
                                    <m:e>
                                      <m:r>
                                        <a:rPr lang="en-IN" sz="1800" i="1">
                                          <a:latin typeface="Cambria Math" panose="02040503050406030204" pitchFamily="18" charset="0"/>
                                        </a:rPr>
                                        <m:t>𝑁</m:t>
                                      </m:r>
                                    </m:e>
                                    <m:sub>
                                      <m:r>
                                        <a:rPr lang="en-IN" sz="1800" i="1">
                                          <a:latin typeface="Cambria Math" panose="02040503050406030204" pitchFamily="18" charset="0"/>
                                        </a:rPr>
                                        <m:t>𝐷</m:t>
                                      </m:r>
                                    </m:sub>
                                  </m:sSub>
                                </m:den>
                              </m:f>
                            </m:e>
                          </m:d>
                        </m:e>
                      </m:rad>
                    </m:oMath>
                  </m:oMathPara>
                </a14:m>
                <a:endParaRPr lang="en-IN" sz="1800" dirty="0"/>
              </a:p>
              <a:p>
                <a:pPr marL="0" indent="0">
                  <a:buNone/>
                </a:pPr>
                <a:r>
                  <a:rPr lang="en-IN" sz="1800" b="1" dirty="0"/>
                  <a:t>Max Electric Field </a:t>
                </a:r>
              </a:p>
              <a:p>
                <a:pPr marL="0" indent="0">
                  <a:buNone/>
                </a:pPr>
                <a:r>
                  <a:rPr lang="en-IN" sz="1800" dirty="0"/>
                  <a:t>	E</a:t>
                </a:r>
                <a:r>
                  <a:rPr lang="en-IN" sz="1800" strike="sngStrike" dirty="0"/>
                  <a:t>max</a:t>
                </a:r>
                <a:r>
                  <a:rPr lang="en-IN" sz="1800" dirty="0"/>
                  <a:t>​=</a:t>
                </a:r>
                <a:r>
                  <a:rPr lang="en-IN" sz="1800" dirty="0" err="1"/>
                  <a:t>qNW</a:t>
                </a:r>
                <a:r>
                  <a:rPr lang="en-IN" sz="1800" dirty="0"/>
                  <a:t>​/</a:t>
                </a:r>
                <a:r>
                  <a:rPr lang="el-GR" sz="1800" dirty="0"/>
                  <a:t> ε</a:t>
                </a:r>
                <a:endParaRPr lang="en-IN" sz="1800" dirty="0"/>
              </a:p>
            </p:txBody>
          </p:sp>
        </mc:Choice>
        <mc:Fallback xmlns="">
          <p:sp>
            <p:nvSpPr>
              <p:cNvPr id="3" name="Content Placeholder 2">
                <a:extLst>
                  <a:ext uri="{FF2B5EF4-FFF2-40B4-BE49-F238E27FC236}">
                    <a16:creationId xmlns:a16="http://schemas.microsoft.com/office/drawing/2014/main" id="{D293D50E-829D-8D86-10A9-2F199F1A33E1}"/>
                  </a:ext>
                </a:extLst>
              </p:cNvPr>
              <p:cNvSpPr>
                <a:spLocks noGrp="1" noRot="1" noChangeAspect="1" noMove="1" noResize="1" noEditPoints="1" noAdjustHandles="1" noChangeArrowheads="1" noChangeShapeType="1" noTextEdit="1"/>
              </p:cNvSpPr>
              <p:nvPr>
                <p:ph idx="1"/>
              </p:nvPr>
            </p:nvSpPr>
            <p:spPr>
              <a:xfrm>
                <a:off x="838200" y="1690688"/>
                <a:ext cx="4025202" cy="4351338"/>
              </a:xfrm>
              <a:blipFill>
                <a:blip r:embed="rId2"/>
                <a:stretch>
                  <a:fillRect l="-1364" t="-1261" b="-840"/>
                </a:stretch>
              </a:blipFill>
            </p:spPr>
            <p:txBody>
              <a:bodyPr/>
              <a:lstStyle/>
              <a:p>
                <a:r>
                  <a:rPr lang="en-IN">
                    <a:noFill/>
                  </a:rPr>
                  <a:t> </a:t>
                </a:r>
              </a:p>
            </p:txBody>
          </p:sp>
        </mc:Fallback>
      </mc:AlternateContent>
      <p:pic>
        <p:nvPicPr>
          <p:cNvPr id="3074" name="Picture 2" descr="5: Abrupt p-n junction in thermal equilibrium adapted from Ref. [51].... |  Download Scientific Diagram">
            <a:extLst>
              <a:ext uri="{FF2B5EF4-FFF2-40B4-BE49-F238E27FC236}">
                <a16:creationId xmlns:a16="http://schemas.microsoft.com/office/drawing/2014/main" id="{A5656AB4-E903-A004-85EE-0C4C96517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6258" y="1690688"/>
            <a:ext cx="3045334" cy="424376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802E9EF2-6D42-7E05-4A1A-5AE803C021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7940" y="1690688"/>
            <a:ext cx="1573875" cy="806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20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B4AC4-7849-EB93-9E25-CC17F685FA16}"/>
              </a:ext>
            </a:extLst>
          </p:cNvPr>
          <p:cNvSpPr>
            <a:spLocks noGrp="1"/>
          </p:cNvSpPr>
          <p:nvPr>
            <p:ph type="title"/>
          </p:nvPr>
        </p:nvSpPr>
        <p:spPr/>
        <p:txBody>
          <a:bodyPr>
            <a:normAutofit/>
          </a:bodyPr>
          <a:lstStyle/>
          <a:p>
            <a:r>
              <a:rPr lang="en-IN" sz="4000" dirty="0"/>
              <a:t>Electric Field and Thickness of Depletion Region</a:t>
            </a:r>
          </a:p>
        </p:txBody>
      </p:sp>
      <p:pic>
        <p:nvPicPr>
          <p:cNvPr id="12" name="Content Placeholder 11">
            <a:extLst>
              <a:ext uri="{FF2B5EF4-FFF2-40B4-BE49-F238E27FC236}">
                <a16:creationId xmlns:a16="http://schemas.microsoft.com/office/drawing/2014/main" id="{65E59D5B-22F1-C5FD-D375-652008E6001E}"/>
              </a:ext>
            </a:extLst>
          </p:cNvPr>
          <p:cNvPicPr>
            <a:picLocks noGrp="1" noChangeAspect="1"/>
          </p:cNvPicPr>
          <p:nvPr>
            <p:ph sz="half" idx="1"/>
          </p:nvPr>
        </p:nvPicPr>
        <p:blipFill>
          <a:blip r:embed="rId2"/>
          <a:stretch>
            <a:fillRect/>
          </a:stretch>
        </p:blipFill>
        <p:spPr>
          <a:xfrm>
            <a:off x="6172200" y="1690688"/>
            <a:ext cx="5181600" cy="4351337"/>
          </a:xfrm>
          <a:prstGeom prst="rect">
            <a:avLst/>
          </a:prstGeom>
        </p:spPr>
      </p:pic>
      <p:pic>
        <p:nvPicPr>
          <p:cNvPr id="10" name="Content Placeholder 9">
            <a:extLst>
              <a:ext uri="{FF2B5EF4-FFF2-40B4-BE49-F238E27FC236}">
                <a16:creationId xmlns:a16="http://schemas.microsoft.com/office/drawing/2014/main" id="{671D14A8-8C43-8264-3AAB-138E49BE96DD}"/>
              </a:ext>
            </a:extLst>
          </p:cNvPr>
          <p:cNvPicPr>
            <a:picLocks noGrp="1" noChangeAspect="1"/>
          </p:cNvPicPr>
          <p:nvPr>
            <p:ph sz="half" idx="2"/>
          </p:nvPr>
        </p:nvPicPr>
        <p:blipFill>
          <a:blip r:embed="rId3"/>
          <a:stretch>
            <a:fillRect/>
          </a:stretch>
        </p:blipFill>
        <p:spPr>
          <a:xfrm>
            <a:off x="838200" y="1690687"/>
            <a:ext cx="5181601" cy="4351338"/>
          </a:xfrm>
          <a:prstGeom prst="rect">
            <a:avLst/>
          </a:prstGeom>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40DD0B9A-7E69-0EAE-925A-26E451E6A890}"/>
                  </a:ext>
                </a:extLst>
              </p:cNvPr>
              <p:cNvSpPr/>
              <p:nvPr/>
            </p:nvSpPr>
            <p:spPr>
              <a:xfrm>
                <a:off x="838200" y="6263640"/>
                <a:ext cx="10515600" cy="39319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Max Electric field = 2.179 </a:t>
                </a:r>
                <a14:m>
                  <m:oMath xmlns:m="http://schemas.openxmlformats.org/officeDocument/2006/math">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10</m:t>
                        </m:r>
                      </m:e>
                      <m:sup>
                        <m:r>
                          <a:rPr lang="en-US" b="0" i="1" smtClean="0">
                            <a:latin typeface="Cambria Math" panose="02040503050406030204" pitchFamily="18" charset="0"/>
                          </a:rPr>
                          <m:t>5</m:t>
                        </m:r>
                      </m:sup>
                    </m:sSup>
                    <m:r>
                      <m:rPr>
                        <m:nor/>
                      </m:rPr>
                      <a:rPr lang="ar-AE" i="1"/>
                      <m:t> </m:t>
                    </m:r>
                    <m:r>
                      <a:rPr lang="en-US" b="0" i="1" smtClean="0">
                        <a:latin typeface="Cambria Math" panose="02040503050406030204" pitchFamily="18" charset="0"/>
                      </a:rPr>
                      <m:t>𝑉</m:t>
                    </m:r>
                    <m:r>
                      <a:rPr lang="en-US" b="0" i="1" smtClean="0">
                        <a:latin typeface="Cambria Math" panose="02040503050406030204" pitchFamily="18" charset="0"/>
                      </a:rPr>
                      <m:t>/</m:t>
                    </m:r>
                    <m:r>
                      <a:rPr lang="ar-AE" i="1">
                        <a:latin typeface="Cambria Math" panose="02040503050406030204" pitchFamily="18" charset="0"/>
                      </a:rPr>
                      <m:t>𝑐</m:t>
                    </m:r>
                    <m:r>
                      <a:rPr lang="en-US" b="0" i="1" smtClean="0">
                        <a:latin typeface="Cambria Math" panose="02040503050406030204" pitchFamily="18" charset="0"/>
                      </a:rPr>
                      <m:t>𝑚</m:t>
                    </m:r>
                  </m:oMath>
                </a14:m>
                <a:r>
                  <a:rPr lang="en-IN" dirty="0"/>
                  <a:t>     and depletion region width = 0.067 µm</a:t>
                </a:r>
              </a:p>
            </p:txBody>
          </p:sp>
        </mc:Choice>
        <mc:Fallback xmlns="">
          <p:sp>
            <p:nvSpPr>
              <p:cNvPr id="3" name="Rectangle 2">
                <a:extLst>
                  <a:ext uri="{FF2B5EF4-FFF2-40B4-BE49-F238E27FC236}">
                    <a16:creationId xmlns:a16="http://schemas.microsoft.com/office/drawing/2014/main" id="{40DD0B9A-7E69-0EAE-925A-26E451E6A890}"/>
                  </a:ext>
                </a:extLst>
              </p:cNvPr>
              <p:cNvSpPr>
                <a:spLocks noRot="1" noChangeAspect="1" noMove="1" noResize="1" noEditPoints="1" noAdjustHandles="1" noChangeArrowheads="1" noChangeShapeType="1" noTextEdit="1"/>
              </p:cNvSpPr>
              <p:nvPr/>
            </p:nvSpPr>
            <p:spPr>
              <a:xfrm>
                <a:off x="838200" y="6263640"/>
                <a:ext cx="10515600" cy="393192"/>
              </a:xfrm>
              <a:prstGeom prst="rect">
                <a:avLst/>
              </a:prstGeom>
              <a:blipFill>
                <a:blip r:embed="rId4"/>
                <a:stretch>
                  <a:fillRect t="-1493" b="-19403"/>
                </a:stretch>
              </a:blipFill>
            </p:spPr>
            <p:txBody>
              <a:bodyPr/>
              <a:lstStyle/>
              <a:p>
                <a:r>
                  <a:rPr lang="en-IN">
                    <a:noFill/>
                  </a:rPr>
                  <a:t> </a:t>
                </a:r>
              </a:p>
            </p:txBody>
          </p:sp>
        </mc:Fallback>
      </mc:AlternateContent>
    </p:spTree>
    <p:extLst>
      <p:ext uri="{BB962C8B-B14F-4D97-AF65-F5344CB8AC3E}">
        <p14:creationId xmlns:p14="http://schemas.microsoft.com/office/powerpoint/2010/main" val="3303361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2CF40E2-DF1B-59AE-CF5E-206DCCA0D13D}"/>
                  </a:ext>
                </a:extLst>
              </p:cNvPr>
              <p:cNvSpPr>
                <a:spLocks noGrp="1"/>
              </p:cNvSpPr>
              <p:nvPr>
                <p:ph type="title"/>
              </p:nvPr>
            </p:nvSpPr>
            <p:spPr>
              <a:xfrm>
                <a:off x="629920" y="365125"/>
                <a:ext cx="10723880" cy="1325563"/>
              </a:xfrm>
            </p:spPr>
            <p:txBody>
              <a:bodyPr>
                <a:normAutofit/>
              </a:bodyPr>
              <a:lstStyle/>
              <a:p>
                <a:r>
                  <a:rPr lang="en-IN" sz="3600" dirty="0"/>
                  <a:t>Bandgap for </a:t>
                </a:r>
                <a14:m>
                  <m:oMath xmlns:m="http://schemas.openxmlformats.org/officeDocument/2006/math">
                    <m:r>
                      <m:rPr>
                        <m:sty m:val="p"/>
                      </m:rPr>
                      <a:rPr lang="en-US" sz="3600" dirty="0">
                        <a:latin typeface="Cambria Math" panose="02040503050406030204" pitchFamily="18" charset="0"/>
                      </a:rPr>
                      <m:t>d</m:t>
                    </m:r>
                    <m:r>
                      <m:rPr>
                        <m:sty m:val="p"/>
                      </m:rPr>
                      <a:rPr lang="en-US" sz="3600" b="0" i="0" dirty="0" smtClean="0">
                        <a:latin typeface="Cambria Math" panose="02040503050406030204" pitchFamily="18" charset="0"/>
                      </a:rPr>
                      <m:t>onor</m:t>
                    </m:r>
                    <m:r>
                      <a:rPr lang="en-US" sz="3600" b="0" i="0" dirty="0" smtClean="0">
                        <a:latin typeface="Cambria Math" panose="02040503050406030204" pitchFamily="18" charset="0"/>
                      </a:rPr>
                      <m:t> </m:t>
                    </m:r>
                    <m:r>
                      <m:rPr>
                        <m:sty m:val="p"/>
                      </m:rPr>
                      <a:rPr lang="en-US" sz="3600" b="0" i="0" dirty="0" smtClean="0">
                        <a:latin typeface="Cambria Math" panose="02040503050406030204" pitchFamily="18" charset="0"/>
                      </a:rPr>
                      <m:t>concentration</m:t>
                    </m:r>
                    <m:r>
                      <a:rPr lang="en-US" sz="3600" b="0" i="0" dirty="0" smtClean="0">
                        <a:latin typeface="Cambria Math" panose="02040503050406030204" pitchFamily="18" charset="0"/>
                      </a:rPr>
                      <m:t> </m:t>
                    </m:r>
                    <m:r>
                      <a:rPr lang="ar-AE" sz="3600">
                        <a:latin typeface="Cambria Math" panose="02040503050406030204" pitchFamily="18" charset="0"/>
                      </a:rPr>
                      <m:t>5</m:t>
                    </m:r>
                    <m:r>
                      <a:rPr lang="ar-AE" sz="3600">
                        <a:latin typeface="Cambria Math" panose="02040503050406030204" pitchFamily="18" charset="0"/>
                      </a:rPr>
                      <m:t>×</m:t>
                    </m:r>
                    <m:sSup>
                      <m:sSupPr>
                        <m:ctrlPr>
                          <a:rPr lang="ar-AE" sz="3600" i="1">
                            <a:latin typeface="Cambria Math" panose="02040503050406030204" pitchFamily="18" charset="0"/>
                          </a:rPr>
                        </m:ctrlPr>
                      </m:sSupPr>
                      <m:e>
                        <m:r>
                          <a:rPr lang="ar-AE" sz="3600">
                            <a:latin typeface="Cambria Math" panose="02040503050406030204" pitchFamily="18" charset="0"/>
                          </a:rPr>
                          <m:t>10</m:t>
                        </m:r>
                      </m:e>
                      <m:sup>
                        <m:r>
                          <a:rPr lang="ar-AE" sz="3600">
                            <a:latin typeface="Cambria Math" panose="02040503050406030204" pitchFamily="18" charset="0"/>
                          </a:rPr>
                          <m:t>17</m:t>
                        </m:r>
                      </m:sup>
                    </m:sSup>
                    <m:r>
                      <m:rPr>
                        <m:nor/>
                      </m:rPr>
                      <a:rPr lang="ar-AE" sz="3600" i="1"/>
                      <m:t> </m:t>
                    </m:r>
                    <m:r>
                      <a:rPr lang="ar-AE" sz="3600" i="1">
                        <a:latin typeface="Cambria Math" panose="02040503050406030204" pitchFamily="18" charset="0"/>
                      </a:rPr>
                      <m:t>𝑐</m:t>
                    </m:r>
                    <m:sSup>
                      <m:sSupPr>
                        <m:ctrlPr>
                          <a:rPr lang="ar-AE" sz="3600" i="1">
                            <a:latin typeface="Cambria Math" panose="02040503050406030204" pitchFamily="18" charset="0"/>
                          </a:rPr>
                        </m:ctrlPr>
                      </m:sSupPr>
                      <m:e>
                        <m:r>
                          <a:rPr lang="ar-AE" sz="3600" i="1">
                            <a:latin typeface="Cambria Math" panose="02040503050406030204" pitchFamily="18" charset="0"/>
                          </a:rPr>
                          <m:t>𝑚</m:t>
                        </m:r>
                      </m:e>
                      <m:sup>
                        <m:r>
                          <a:rPr lang="ar-AE" sz="3600">
                            <a:latin typeface="Cambria Math" panose="02040503050406030204" pitchFamily="18" charset="0"/>
                          </a:rPr>
                          <m:t>−</m:t>
                        </m:r>
                        <m:r>
                          <a:rPr lang="ar-AE" sz="3600">
                            <a:latin typeface="Cambria Math" panose="02040503050406030204" pitchFamily="18" charset="0"/>
                          </a:rPr>
                          <m:t>3</m:t>
                        </m:r>
                      </m:sup>
                    </m:sSup>
                  </m:oMath>
                </a14:m>
                <a:r>
                  <a:rPr lang="en-IN" sz="3600" dirty="0"/>
                  <a:t> </a:t>
                </a:r>
              </a:p>
            </p:txBody>
          </p:sp>
        </mc:Choice>
        <mc:Fallback xmlns="">
          <p:sp>
            <p:nvSpPr>
              <p:cNvPr id="2" name="Title 1">
                <a:extLst>
                  <a:ext uri="{FF2B5EF4-FFF2-40B4-BE49-F238E27FC236}">
                    <a16:creationId xmlns:a16="http://schemas.microsoft.com/office/drawing/2014/main" id="{82CF40E2-DF1B-59AE-CF5E-206DCCA0D13D}"/>
                  </a:ext>
                </a:extLst>
              </p:cNvPr>
              <p:cNvSpPr>
                <a:spLocks noGrp="1" noRot="1" noChangeAspect="1" noMove="1" noResize="1" noEditPoints="1" noAdjustHandles="1" noChangeArrowheads="1" noChangeShapeType="1" noTextEdit="1"/>
              </p:cNvSpPr>
              <p:nvPr>
                <p:ph type="title"/>
              </p:nvPr>
            </p:nvSpPr>
            <p:spPr>
              <a:xfrm>
                <a:off x="629920" y="365125"/>
                <a:ext cx="10723880" cy="1325563"/>
              </a:xfrm>
              <a:blipFill>
                <a:blip r:embed="rId2"/>
                <a:stretch>
                  <a:fillRect l="-1705"/>
                </a:stretch>
              </a:blipFill>
            </p:spPr>
            <p:txBody>
              <a:bodyPr/>
              <a:lstStyle/>
              <a:p>
                <a:r>
                  <a:rPr lang="en-IN">
                    <a:noFill/>
                  </a:rPr>
                  <a:t> </a:t>
                </a:r>
              </a:p>
            </p:txBody>
          </p:sp>
        </mc:Fallback>
      </mc:AlternateContent>
      <p:sp>
        <p:nvSpPr>
          <p:cNvPr id="4" name="Content Placeholder 3">
            <a:extLst>
              <a:ext uri="{FF2B5EF4-FFF2-40B4-BE49-F238E27FC236}">
                <a16:creationId xmlns:a16="http://schemas.microsoft.com/office/drawing/2014/main" id="{8CBAF1E5-913E-8FCA-C946-51D2D1722203}"/>
              </a:ext>
            </a:extLst>
          </p:cNvPr>
          <p:cNvSpPr>
            <a:spLocks noGrp="1"/>
          </p:cNvSpPr>
          <p:nvPr>
            <p:ph sz="half" idx="2"/>
          </p:nvPr>
        </p:nvSpPr>
        <p:spPr/>
        <p:txBody>
          <a:bodyPr>
            <a:normAutofit fontScale="85000" lnSpcReduction="20000"/>
          </a:bodyPr>
          <a:lstStyle/>
          <a:p>
            <a:r>
              <a:rPr lang="en-US" dirty="0"/>
              <a:t>The energy band diagram of the PN junction diode illustrates the variation of the conduction band (</a:t>
            </a:r>
            <a:r>
              <a:rPr lang="en-US" dirty="0" err="1"/>
              <a:t>Ec</a:t>
            </a:r>
            <a:r>
              <a:rPr lang="en-US" dirty="0"/>
              <a:t>) and valence band (Ev) across the junction. When the P-type and N-type regions are joined, carrier diffusion causes band bending near the junction, forming a depletion region.</a:t>
            </a:r>
          </a:p>
          <a:p>
            <a:r>
              <a:rPr lang="en-US" dirty="0"/>
              <a:t>The bandgap (Eg) of silicon remains approximately 1.12 eV and does not change across the junction. However, the conduction and valence bands bend near the depletion region due to the internal electric field.</a:t>
            </a:r>
            <a:endParaRPr lang="en-IN" dirty="0"/>
          </a:p>
        </p:txBody>
      </p:sp>
      <p:pic>
        <p:nvPicPr>
          <p:cNvPr id="5" name="Content Placeholder 4">
            <a:extLst>
              <a:ext uri="{FF2B5EF4-FFF2-40B4-BE49-F238E27FC236}">
                <a16:creationId xmlns:a16="http://schemas.microsoft.com/office/drawing/2014/main" id="{B19E4BC8-6B98-C1E8-7C24-391D3C8ABCF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9920" y="1825625"/>
            <a:ext cx="5181599" cy="4351338"/>
          </a:xfrm>
          <a:prstGeom prst="rect">
            <a:avLst/>
          </a:prstGeom>
        </p:spPr>
      </p:pic>
    </p:spTree>
    <p:extLst>
      <p:ext uri="{BB962C8B-B14F-4D97-AF65-F5344CB8AC3E}">
        <p14:creationId xmlns:p14="http://schemas.microsoft.com/office/powerpoint/2010/main" val="1996802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05183-0159-817E-C434-84289E38C024}"/>
              </a:ext>
            </a:extLst>
          </p:cNvPr>
          <p:cNvSpPr>
            <a:spLocks noGrp="1"/>
          </p:cNvSpPr>
          <p:nvPr>
            <p:ph type="title"/>
          </p:nvPr>
        </p:nvSpPr>
        <p:spPr/>
        <p:txBody>
          <a:bodyPr/>
          <a:lstStyle/>
          <a:p>
            <a:r>
              <a:rPr lang="en-IN" dirty="0"/>
              <a:t>Electrostatic potential of PN diode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11F9D13-BA5B-A3BD-02AD-924A0150BCDD}"/>
                  </a:ext>
                </a:extLst>
              </p:cNvPr>
              <p:cNvSpPr>
                <a:spLocks noGrp="1"/>
              </p:cNvSpPr>
              <p:nvPr>
                <p:ph sz="half" idx="2"/>
              </p:nvPr>
            </p:nvSpPr>
            <p:spPr/>
            <p:txBody>
              <a:bodyPr>
                <a:normAutofit fontScale="92500"/>
              </a:bodyPr>
              <a:lstStyle/>
              <a:p>
                <a:pPr marL="0" indent="0">
                  <a:buNone/>
                </a:pPr>
                <a:r>
                  <a:rPr lang="en-IN" dirty="0"/>
                  <a:t>The </a:t>
                </a:r>
                <a:r>
                  <a:rPr lang="en-IN" b="1" dirty="0"/>
                  <a:t>electrostatic potential</a:t>
                </a:r>
                <a:r>
                  <a:rPr lang="en-IN" dirty="0"/>
                  <a:t> in a PN diode describes how the electric potential varies across the junction due to the diffusion of carriers and the formation of the depletion region. The difference between the two points is </a:t>
                </a:r>
                <a14:m>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𝑽</m:t>
                        </m:r>
                      </m:e>
                      <m:sub>
                        <m:r>
                          <a:rPr lang="ar-AE" b="1" i="1">
                            <a:latin typeface="Cambria Math" panose="02040503050406030204" pitchFamily="18" charset="0"/>
                          </a:rPr>
                          <m:t>𝒃𝒊</m:t>
                        </m:r>
                      </m:sub>
                    </m:sSub>
                    <m:r>
                      <a:rPr lang="en-US" b="1" i="1" smtClean="0">
                        <a:latin typeface="Cambria Math" panose="02040503050406030204" pitchFamily="18" charset="0"/>
                      </a:rPr>
                      <m:t>.</m:t>
                    </m:r>
                  </m:oMath>
                </a14:m>
                <a:r>
                  <a:rPr lang="en-IN" dirty="0"/>
                  <a:t> Coming out to be </a:t>
                </a:r>
                <a:r>
                  <a:rPr lang="en-IN" b="1" dirty="0"/>
                  <a:t>0.85 V.</a:t>
                </a:r>
              </a:p>
              <a:p>
                <a:pPr marL="0" indent="0">
                  <a:buNone/>
                </a:pPr>
                <a:r>
                  <a:rPr lang="en-IN" dirty="0"/>
                  <a:t>It is obtained by solving this:</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𝐸</m:t>
                      </m:r>
                      <m:r>
                        <a:rPr lang="en-IN" i="1">
                          <a:latin typeface="Cambria Math" panose="02040503050406030204" pitchFamily="18" charset="0"/>
                        </a:rPr>
                        <m:t>(</m:t>
                      </m:r>
                      <m:r>
                        <a:rPr lang="en-IN" i="1">
                          <a:latin typeface="Cambria Math" panose="02040503050406030204" pitchFamily="18" charset="0"/>
                        </a:rPr>
                        <m:t>𝑥</m:t>
                      </m:r>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𝑑𝑉</m:t>
                          </m:r>
                        </m:num>
                        <m:den>
                          <m:r>
                            <a:rPr lang="en-IN" i="1">
                              <a:latin typeface="Cambria Math" panose="02040503050406030204" pitchFamily="18" charset="0"/>
                            </a:rPr>
                            <m:t>𝑑𝑥</m:t>
                          </m:r>
                        </m:den>
                      </m:f>
                    </m:oMath>
                  </m:oMathPara>
                </a14:m>
                <a:endParaRPr lang="ar-AE" dirty="0"/>
              </a:p>
              <a:p>
                <a:endParaRPr lang="en-IN" dirty="0"/>
              </a:p>
            </p:txBody>
          </p:sp>
        </mc:Choice>
        <mc:Fallback xmlns="">
          <p:sp>
            <p:nvSpPr>
              <p:cNvPr id="4" name="Content Placeholder 3">
                <a:extLst>
                  <a:ext uri="{FF2B5EF4-FFF2-40B4-BE49-F238E27FC236}">
                    <a16:creationId xmlns:a16="http://schemas.microsoft.com/office/drawing/2014/main" id="{411F9D13-BA5B-A3BD-02AD-924A0150BCDD}"/>
                  </a:ext>
                </a:extLst>
              </p:cNvPr>
              <p:cNvSpPr>
                <a:spLocks noGrp="1" noRot="1" noChangeAspect="1" noMove="1" noResize="1" noEditPoints="1" noAdjustHandles="1" noChangeArrowheads="1" noChangeShapeType="1" noTextEdit="1"/>
              </p:cNvSpPr>
              <p:nvPr>
                <p:ph sz="half" idx="2"/>
              </p:nvPr>
            </p:nvSpPr>
            <p:spPr>
              <a:blipFill>
                <a:blip r:embed="rId2"/>
                <a:stretch>
                  <a:fillRect l="-2118" t="-2101" r="-3294"/>
                </a:stretch>
              </a:blipFill>
            </p:spPr>
            <p:txBody>
              <a:bodyPr/>
              <a:lstStyle/>
              <a:p>
                <a:r>
                  <a:rPr lang="en-IN">
                    <a:noFill/>
                  </a:rPr>
                  <a:t> </a:t>
                </a:r>
              </a:p>
            </p:txBody>
          </p:sp>
        </mc:Fallback>
      </mc:AlternateContent>
      <p:pic>
        <p:nvPicPr>
          <p:cNvPr id="5" name="Content Placeholder 4">
            <a:extLst>
              <a:ext uri="{FF2B5EF4-FFF2-40B4-BE49-F238E27FC236}">
                <a16:creationId xmlns:a16="http://schemas.microsoft.com/office/drawing/2014/main" id="{147BA8C9-D89C-C04B-004F-5889DC9DBEC4}"/>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200" y="1825625"/>
            <a:ext cx="5085079" cy="4351338"/>
          </a:xfrm>
          <a:prstGeom prst="rect">
            <a:avLst/>
          </a:prstGeom>
        </p:spPr>
      </p:pic>
    </p:spTree>
    <p:extLst>
      <p:ext uri="{BB962C8B-B14F-4D97-AF65-F5344CB8AC3E}">
        <p14:creationId xmlns:p14="http://schemas.microsoft.com/office/powerpoint/2010/main" val="3024461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ADE98-7E3D-9A97-B814-DF2FE76ACE23}"/>
              </a:ext>
            </a:extLst>
          </p:cNvPr>
          <p:cNvSpPr>
            <a:spLocks noGrp="1"/>
          </p:cNvSpPr>
          <p:nvPr>
            <p:ph type="title"/>
          </p:nvPr>
        </p:nvSpPr>
        <p:spPr/>
        <p:txBody>
          <a:bodyPr>
            <a:normAutofit/>
          </a:bodyPr>
          <a:lstStyle/>
          <a:p>
            <a:r>
              <a:rPr lang="en-US" sz="3600" dirty="0"/>
              <a:t>DC IV Characteristic for the </a:t>
            </a:r>
            <a:r>
              <a:rPr lang="en-US" sz="3600" dirty="0" err="1"/>
              <a:t>pn</a:t>
            </a:r>
            <a:r>
              <a:rPr lang="en-US" sz="3600" dirty="0"/>
              <a:t> junction diode for 0-1 V</a:t>
            </a:r>
            <a:endParaRPr lang="en-IN" sz="3600" dirty="0"/>
          </a:p>
        </p:txBody>
      </p:sp>
      <p:sp>
        <p:nvSpPr>
          <p:cNvPr id="4" name="Content Placeholder 3">
            <a:extLst>
              <a:ext uri="{FF2B5EF4-FFF2-40B4-BE49-F238E27FC236}">
                <a16:creationId xmlns:a16="http://schemas.microsoft.com/office/drawing/2014/main" id="{4CCAE038-0096-3005-671D-A7F9A8E66BC3}"/>
              </a:ext>
            </a:extLst>
          </p:cNvPr>
          <p:cNvSpPr>
            <a:spLocks noGrp="1"/>
          </p:cNvSpPr>
          <p:nvPr>
            <p:ph sz="half" idx="2"/>
          </p:nvPr>
        </p:nvSpPr>
        <p:spPr/>
        <p:txBody>
          <a:bodyPr>
            <a:normAutofit fontScale="77500" lnSpcReduction="20000"/>
          </a:bodyPr>
          <a:lstStyle/>
          <a:p>
            <a:pPr marL="0" indent="0">
              <a:buNone/>
            </a:pPr>
            <a:r>
              <a:rPr lang="en-US" dirty="0"/>
              <a:t>This graph shows the forward bias I–V characteristic of the simulated PN junction diode. The built-in voltage of the junction is approximately </a:t>
            </a:r>
            <a:r>
              <a:rPr lang="en-US" b="1" dirty="0"/>
              <a:t>0.85 V</a:t>
            </a:r>
            <a:r>
              <a:rPr lang="en-US" dirty="0"/>
              <a:t>, which represents the potential barrier formed at equilibrium due to charge diffusion.</a:t>
            </a:r>
          </a:p>
          <a:p>
            <a:pPr marL="0" indent="0">
              <a:buNone/>
            </a:pPr>
            <a:r>
              <a:rPr lang="en-US" dirty="0"/>
              <a:t>For applied voltages below 0.85 V, the current remains very small because the external voltage is not sufficient to completely overcome the built-in potential barrier. As the applied voltage approaches and exceeds 0.8 V, the barrier height reduces significantly, allowing majority carriers to cross the junction more easily.</a:t>
            </a:r>
          </a:p>
        </p:txBody>
      </p:sp>
      <p:pic>
        <p:nvPicPr>
          <p:cNvPr id="8" name="Content Placeholder 7">
            <a:extLst>
              <a:ext uri="{FF2B5EF4-FFF2-40B4-BE49-F238E27FC236}">
                <a16:creationId xmlns:a16="http://schemas.microsoft.com/office/drawing/2014/main" id="{73784965-BEC0-A1F7-2D45-6D33070A3D0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33046" y="1825624"/>
            <a:ext cx="5386754" cy="4183289"/>
          </a:xfrm>
          <a:prstGeom prst="rect">
            <a:avLst/>
          </a:prstGeom>
        </p:spPr>
      </p:pic>
    </p:spTree>
    <p:extLst>
      <p:ext uri="{BB962C8B-B14F-4D97-AF65-F5344CB8AC3E}">
        <p14:creationId xmlns:p14="http://schemas.microsoft.com/office/powerpoint/2010/main" val="491405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9EDEA-71EA-6267-BE82-505E878A8C63}"/>
              </a:ext>
            </a:extLst>
          </p:cNvPr>
          <p:cNvSpPr>
            <a:spLocks noGrp="1"/>
          </p:cNvSpPr>
          <p:nvPr>
            <p:ph type="title"/>
          </p:nvPr>
        </p:nvSpPr>
        <p:spPr/>
        <p:txBody>
          <a:bodyPr>
            <a:normAutofit/>
          </a:bodyPr>
          <a:lstStyle/>
          <a:p>
            <a:r>
              <a:rPr lang="en-IN" sz="3600" dirty="0"/>
              <a:t>Reverse Bias I-V Characteristics of PN junction Diode (-50 to 5 volts)</a:t>
            </a:r>
          </a:p>
        </p:txBody>
      </p:sp>
      <p:sp>
        <p:nvSpPr>
          <p:cNvPr id="4" name="Content Placeholder 3">
            <a:extLst>
              <a:ext uri="{FF2B5EF4-FFF2-40B4-BE49-F238E27FC236}">
                <a16:creationId xmlns:a16="http://schemas.microsoft.com/office/drawing/2014/main" id="{F80DE4C3-C4E6-1C61-79DD-B46CDC5835D6}"/>
              </a:ext>
            </a:extLst>
          </p:cNvPr>
          <p:cNvSpPr>
            <a:spLocks noGrp="1"/>
          </p:cNvSpPr>
          <p:nvPr>
            <p:ph sz="half" idx="2"/>
          </p:nvPr>
        </p:nvSpPr>
        <p:spPr/>
        <p:txBody>
          <a:bodyPr>
            <a:normAutofit fontScale="92500" lnSpcReduction="20000"/>
          </a:bodyPr>
          <a:lstStyle/>
          <a:p>
            <a:pPr marL="0" indent="0">
              <a:buNone/>
            </a:pPr>
            <a:r>
              <a:rPr lang="en-US" sz="1600" b="1" dirty="0"/>
              <a:t>1. Region: 0 V to +5 V (Forward Bias)</a:t>
            </a:r>
            <a:br>
              <a:rPr lang="en-US" sz="1600" dirty="0"/>
            </a:br>
            <a:r>
              <a:rPr lang="en-US" sz="1600" dirty="0"/>
              <a:t>In this region, the diode is </a:t>
            </a:r>
            <a:r>
              <a:rPr lang="en-US" sz="1600" b="1" dirty="0"/>
              <a:t>forward biased</a:t>
            </a:r>
            <a:r>
              <a:rPr lang="en-US" sz="1600" dirty="0"/>
              <a:t>. The applied voltage reduces the </a:t>
            </a:r>
            <a:r>
              <a:rPr lang="en-US" sz="1600" b="1" dirty="0"/>
              <a:t>potential barrier</a:t>
            </a:r>
            <a:r>
              <a:rPr lang="en-US" sz="1600" dirty="0"/>
              <a:t>, allowing </a:t>
            </a:r>
            <a:r>
              <a:rPr lang="en-US" sz="1600" b="1" dirty="0"/>
              <a:t>majority carriers (electrons and holes)</a:t>
            </a:r>
            <a:r>
              <a:rPr lang="en-US" sz="1600" dirty="0"/>
              <a:t> to cross the junction easily. As a result, the </a:t>
            </a:r>
            <a:r>
              <a:rPr lang="en-US" sz="1600" b="1" dirty="0"/>
              <a:t>current increases rapidly</a:t>
            </a:r>
            <a:r>
              <a:rPr lang="en-US" sz="1600" dirty="0"/>
              <a:t> with voltage, showing the typical </a:t>
            </a:r>
            <a:r>
              <a:rPr lang="en-US" sz="1600" b="1" dirty="0"/>
              <a:t>exponential rise</a:t>
            </a:r>
            <a:r>
              <a:rPr lang="en-US" sz="1600" dirty="0"/>
              <a:t> of a PN junction diode.</a:t>
            </a:r>
          </a:p>
          <a:p>
            <a:pPr marL="0" indent="0">
              <a:buNone/>
            </a:pPr>
            <a:r>
              <a:rPr lang="en-US" sz="1600" b="1" dirty="0"/>
              <a:t>2. Region: 0 V to −18 V (Reverse Bias – Leakage Region)</a:t>
            </a:r>
            <a:br>
              <a:rPr lang="en-US" sz="1600" dirty="0"/>
            </a:br>
            <a:r>
              <a:rPr lang="en-US" sz="1600" dirty="0"/>
              <a:t>When the voltage becomes negative, the diode operates in </a:t>
            </a:r>
            <a:r>
              <a:rPr lang="en-US" sz="1600" b="1" dirty="0"/>
              <a:t>reverse bias</a:t>
            </a:r>
            <a:r>
              <a:rPr lang="en-US" sz="1600" dirty="0"/>
              <a:t>. The applied voltage </a:t>
            </a:r>
            <a:r>
              <a:rPr lang="en-US" sz="1600" b="1" dirty="0"/>
              <a:t>increases the potential barrier</a:t>
            </a:r>
            <a:r>
              <a:rPr lang="en-US" sz="1600" dirty="0"/>
              <a:t> and </a:t>
            </a:r>
            <a:r>
              <a:rPr lang="en-US" sz="1600" b="1" dirty="0"/>
              <a:t>widens the depletion region</a:t>
            </a:r>
            <a:r>
              <a:rPr lang="en-US" sz="1600" dirty="0"/>
              <a:t>, pulling majority carriers away from the junction. Only a </a:t>
            </a:r>
            <a:r>
              <a:rPr lang="en-US" sz="1600" b="1" dirty="0"/>
              <a:t>very small reverse saturation current</a:t>
            </a:r>
            <a:r>
              <a:rPr lang="en-US" sz="1600" dirty="0"/>
              <a:t> flows due to </a:t>
            </a:r>
            <a:r>
              <a:rPr lang="en-US" sz="1600" b="1" dirty="0"/>
              <a:t>minority carriers</a:t>
            </a:r>
            <a:r>
              <a:rPr lang="en-US" sz="1600" dirty="0"/>
              <a:t>, and this current remains </a:t>
            </a:r>
            <a:r>
              <a:rPr lang="en-US" sz="1600" b="1" dirty="0"/>
              <a:t>almost constant</a:t>
            </a:r>
            <a:r>
              <a:rPr lang="en-US" sz="1600" dirty="0"/>
              <a:t> despite increasing reverse voltage.</a:t>
            </a:r>
          </a:p>
          <a:p>
            <a:pPr marL="0" indent="0">
              <a:buNone/>
            </a:pPr>
            <a:r>
              <a:rPr lang="en-US" sz="1600" b="1" dirty="0"/>
              <a:t>3. Region: −18 V to −50 V (Strong Reverse Bias)</a:t>
            </a:r>
            <a:br>
              <a:rPr lang="en-US" sz="1600" dirty="0"/>
            </a:br>
            <a:r>
              <a:rPr lang="en-US" sz="1600" dirty="0"/>
              <a:t>Beyond approximately </a:t>
            </a:r>
            <a:r>
              <a:rPr lang="en-US" sz="1600" b="1" dirty="0"/>
              <a:t>−18 V</a:t>
            </a:r>
            <a:r>
              <a:rPr lang="en-US" sz="1600" dirty="0"/>
              <a:t>, the diode enters a </a:t>
            </a:r>
            <a:r>
              <a:rPr lang="en-US" sz="1600" b="1" dirty="0"/>
              <a:t>strong reverse-bias region</a:t>
            </a:r>
            <a:r>
              <a:rPr lang="en-US" sz="1600" dirty="0"/>
              <a:t>. The </a:t>
            </a:r>
            <a:r>
              <a:rPr lang="en-US" sz="1600" b="1" dirty="0"/>
              <a:t>depletion region widens significantly</a:t>
            </a:r>
            <a:r>
              <a:rPr lang="en-US" sz="1600" dirty="0"/>
              <a:t>, further restricting carrier movement. The current becomes </a:t>
            </a:r>
            <a:r>
              <a:rPr lang="en-US" sz="1600" b="1" dirty="0"/>
              <a:t>extremely small and nearly stable</a:t>
            </a:r>
            <a:r>
              <a:rPr lang="en-US" sz="1600" dirty="0"/>
              <a:t>, indicating minimal carrier conduction. At </a:t>
            </a:r>
            <a:r>
              <a:rPr lang="en-US" sz="1600" b="1" dirty="0"/>
              <a:t>−50 V</a:t>
            </a:r>
            <a:r>
              <a:rPr lang="en-US" sz="1600" dirty="0"/>
              <a:t>, the depletion region thickness increases to about </a:t>
            </a:r>
            <a:r>
              <a:rPr lang="en-US" sz="1600" b="1" dirty="0"/>
              <a:t>1.101 µm</a:t>
            </a:r>
            <a:r>
              <a:rPr lang="en-US" sz="1600" dirty="0"/>
              <a:t>, showing strong junction separation under high reverse voltage.</a:t>
            </a:r>
          </a:p>
        </p:txBody>
      </p:sp>
      <p:pic>
        <p:nvPicPr>
          <p:cNvPr id="6" name="Content Placeholder 7">
            <a:extLst>
              <a:ext uri="{FF2B5EF4-FFF2-40B4-BE49-F238E27FC236}">
                <a16:creationId xmlns:a16="http://schemas.microsoft.com/office/drawing/2014/main" id="{CFA09BFE-DF3E-7C68-6D43-00A58D14E34B}"/>
              </a:ext>
            </a:extLst>
          </p:cNvPr>
          <p:cNvPicPr>
            <a:picLocks noGrp="1" noChangeAspect="1"/>
          </p:cNvPicPr>
          <p:nvPr>
            <p:ph sz="half" idx="1"/>
          </p:nvPr>
        </p:nvPicPr>
        <p:blipFill>
          <a:blip r:embed="rId2"/>
          <a:stretch>
            <a:fillRect/>
          </a:stretch>
        </p:blipFill>
        <p:spPr>
          <a:xfrm>
            <a:off x="838200" y="1825625"/>
            <a:ext cx="5181600" cy="4351338"/>
          </a:xfrm>
          <a:prstGeom prst="rect">
            <a:avLst/>
          </a:prstGeom>
        </p:spPr>
      </p:pic>
    </p:spTree>
    <p:extLst>
      <p:ext uri="{BB962C8B-B14F-4D97-AF65-F5344CB8AC3E}">
        <p14:creationId xmlns:p14="http://schemas.microsoft.com/office/powerpoint/2010/main" val="245928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81B2B-F6CA-1D95-BFCF-2B76F1032DA3}"/>
              </a:ext>
            </a:extLst>
          </p:cNvPr>
          <p:cNvSpPr>
            <a:spLocks noGrp="1"/>
          </p:cNvSpPr>
          <p:nvPr>
            <p:ph type="title"/>
          </p:nvPr>
        </p:nvSpPr>
        <p:spPr/>
        <p:txBody>
          <a:bodyPr/>
          <a:lstStyle/>
          <a:p>
            <a:r>
              <a:rPr lang="en-US" dirty="0"/>
              <a:t>Cause of Breakdown in reverse Bias </a:t>
            </a:r>
            <a:endParaRPr lang="en-IN" dirty="0"/>
          </a:p>
        </p:txBody>
      </p:sp>
      <p:sp>
        <p:nvSpPr>
          <p:cNvPr id="3" name="Content Placeholder 2">
            <a:extLst>
              <a:ext uri="{FF2B5EF4-FFF2-40B4-BE49-F238E27FC236}">
                <a16:creationId xmlns:a16="http://schemas.microsoft.com/office/drawing/2014/main" id="{A55EBAF9-9808-F673-E98A-604D179C0EBF}"/>
              </a:ext>
            </a:extLst>
          </p:cNvPr>
          <p:cNvSpPr>
            <a:spLocks noGrp="1"/>
          </p:cNvSpPr>
          <p:nvPr>
            <p:ph idx="1"/>
          </p:nvPr>
        </p:nvSpPr>
        <p:spPr/>
        <p:txBody>
          <a:bodyPr/>
          <a:lstStyle/>
          <a:p>
            <a:pPr marL="0" indent="0">
              <a:buNone/>
            </a:pPr>
            <a:r>
              <a:rPr lang="en-US" dirty="0"/>
              <a:t>In reverse Bias at high voltages the electric field accelerates the minority carriers. These carriers with high energy collides with lattice to form an electron hole pair now these pair will form a new pair on there own causing an avalanche kind of disturbance. The depletion with need to be wide means for low doping Avalanche breakdown occurs and voltage requirement need to be high.</a:t>
            </a:r>
          </a:p>
          <a:p>
            <a:pPr marL="0" indent="0">
              <a:buNone/>
            </a:pPr>
            <a:r>
              <a:rPr lang="en-US" dirty="0"/>
              <a:t>For Zener, the depletion region is very thin. With very high electric field the electrons pull from valance band to conduction band by quantum tunneling. So, for Zener the doping need to be very high and voltage is less than avalanche.</a:t>
            </a:r>
            <a:endParaRPr lang="en-IN" dirty="0"/>
          </a:p>
        </p:txBody>
      </p:sp>
    </p:spTree>
    <p:extLst>
      <p:ext uri="{BB962C8B-B14F-4D97-AF65-F5344CB8AC3E}">
        <p14:creationId xmlns:p14="http://schemas.microsoft.com/office/powerpoint/2010/main" val="839584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8E8A6CC-31A8-B572-9F57-8B4172AC1BA7}"/>
                  </a:ext>
                </a:extLst>
              </p:cNvPr>
              <p:cNvSpPr>
                <a:spLocks noGrp="1"/>
              </p:cNvSpPr>
              <p:nvPr>
                <p:ph type="title"/>
              </p:nvPr>
            </p:nvSpPr>
            <p:spPr/>
            <p:txBody>
              <a:bodyPr/>
              <a:lstStyle/>
              <a:p>
                <a:r>
                  <a:rPr lang="en-US" dirty="0"/>
                  <a:t>Electric Field and depletion region on a doping of </a:t>
                </a:r>
                <a14:m>
                  <m:oMath xmlns:m="http://schemas.openxmlformats.org/officeDocument/2006/math">
                    <m:r>
                      <a:rPr lang="ar-AE">
                        <a:latin typeface="Cambria Math" panose="02040503050406030204" pitchFamily="18" charset="0"/>
                      </a:rPr>
                      <m:t>5</m:t>
                    </m:r>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10</m:t>
                        </m:r>
                      </m:e>
                      <m:sup>
                        <m:r>
                          <a:rPr lang="ar-AE">
                            <a:latin typeface="Cambria Math" panose="02040503050406030204" pitchFamily="18" charset="0"/>
                          </a:rPr>
                          <m:t>1</m:t>
                        </m:r>
                        <m:r>
                          <a:rPr lang="en-US" b="0" i="1" smtClean="0">
                            <a:latin typeface="Cambria Math" panose="02040503050406030204" pitchFamily="18" charset="0"/>
                          </a:rPr>
                          <m:t>6</m:t>
                        </m:r>
                      </m:sup>
                    </m:sSup>
                    <m:r>
                      <m:rPr>
                        <m:nor/>
                      </m:rPr>
                      <a:rPr lang="ar-AE" i="1"/>
                      <m:t> </m:t>
                    </m:r>
                    <m:r>
                      <a:rPr lang="ar-AE" i="1">
                        <a:latin typeface="Cambria Math" panose="02040503050406030204" pitchFamily="18" charset="0"/>
                      </a:rPr>
                      <m:t>𝑐</m:t>
                    </m:r>
                    <m:sSup>
                      <m:sSupPr>
                        <m:ctrlPr>
                          <a:rPr lang="ar-AE" i="1">
                            <a:latin typeface="Cambria Math" panose="02040503050406030204" pitchFamily="18" charset="0"/>
                          </a:rPr>
                        </m:ctrlPr>
                      </m:sSupPr>
                      <m:e>
                        <m:r>
                          <a:rPr lang="ar-AE" i="1">
                            <a:latin typeface="Cambria Math" panose="02040503050406030204" pitchFamily="18" charset="0"/>
                          </a:rPr>
                          <m:t>𝑚</m:t>
                        </m:r>
                      </m:e>
                      <m:sup>
                        <m:r>
                          <a:rPr lang="ar-AE">
                            <a:latin typeface="Cambria Math" panose="02040503050406030204" pitchFamily="18" charset="0"/>
                          </a:rPr>
                          <m:t>−</m:t>
                        </m:r>
                        <m:r>
                          <a:rPr lang="ar-AE">
                            <a:latin typeface="Cambria Math" panose="02040503050406030204" pitchFamily="18" charset="0"/>
                          </a:rPr>
                          <m:t>3</m:t>
                        </m:r>
                      </m:sup>
                    </m:sSup>
                  </m:oMath>
                </a14:m>
                <a:r>
                  <a:rPr lang="en-IN" dirty="0"/>
                  <a:t> and </a:t>
                </a:r>
                <a14:m>
                  <m:oMath xmlns:m="http://schemas.openxmlformats.org/officeDocument/2006/math">
                    <m:r>
                      <a:rPr lang="ar-AE">
                        <a:latin typeface="Cambria Math" panose="02040503050406030204" pitchFamily="18" charset="0"/>
                      </a:rPr>
                      <m:t>5</m:t>
                    </m:r>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10</m:t>
                        </m:r>
                      </m:e>
                      <m:sup>
                        <m:r>
                          <a:rPr lang="ar-AE">
                            <a:latin typeface="Cambria Math" panose="02040503050406030204" pitchFamily="18" charset="0"/>
                          </a:rPr>
                          <m:t>1</m:t>
                        </m:r>
                        <m:r>
                          <a:rPr lang="en-IN" b="0" i="1" smtClean="0">
                            <a:latin typeface="Cambria Math" panose="02040503050406030204" pitchFamily="18" charset="0"/>
                          </a:rPr>
                          <m:t>9</m:t>
                        </m:r>
                      </m:sup>
                    </m:sSup>
                    <m:r>
                      <m:rPr>
                        <m:nor/>
                      </m:rPr>
                      <a:rPr lang="ar-AE" i="1"/>
                      <m:t> </m:t>
                    </m:r>
                    <m:r>
                      <a:rPr lang="ar-AE" i="1">
                        <a:latin typeface="Cambria Math" panose="02040503050406030204" pitchFamily="18" charset="0"/>
                      </a:rPr>
                      <m:t>𝑐</m:t>
                    </m:r>
                    <m:sSup>
                      <m:sSupPr>
                        <m:ctrlPr>
                          <a:rPr lang="ar-AE" i="1">
                            <a:latin typeface="Cambria Math" panose="02040503050406030204" pitchFamily="18" charset="0"/>
                          </a:rPr>
                        </m:ctrlPr>
                      </m:sSupPr>
                      <m:e>
                        <m:r>
                          <a:rPr lang="ar-AE" i="1">
                            <a:latin typeface="Cambria Math" panose="02040503050406030204" pitchFamily="18" charset="0"/>
                          </a:rPr>
                          <m:t>𝑚</m:t>
                        </m:r>
                      </m:e>
                      <m:sup>
                        <m:r>
                          <a:rPr lang="ar-AE">
                            <a:latin typeface="Cambria Math" panose="02040503050406030204" pitchFamily="18" charset="0"/>
                          </a:rPr>
                          <m:t>−</m:t>
                        </m:r>
                        <m:r>
                          <a:rPr lang="ar-AE">
                            <a:latin typeface="Cambria Math" panose="02040503050406030204" pitchFamily="18" charset="0"/>
                          </a:rPr>
                          <m:t>3</m:t>
                        </m:r>
                      </m:sup>
                    </m:sSup>
                  </m:oMath>
                </a14:m>
                <a:r>
                  <a:rPr lang="en-IN" dirty="0"/>
                  <a:t> </a:t>
                </a:r>
              </a:p>
            </p:txBody>
          </p:sp>
        </mc:Choice>
        <mc:Fallback xmlns="">
          <p:sp>
            <p:nvSpPr>
              <p:cNvPr id="2" name="Title 1">
                <a:extLst>
                  <a:ext uri="{FF2B5EF4-FFF2-40B4-BE49-F238E27FC236}">
                    <a16:creationId xmlns:a16="http://schemas.microsoft.com/office/drawing/2014/main" id="{C8E8A6CC-31A8-B572-9F57-8B4172AC1BA7}"/>
                  </a:ext>
                </a:extLst>
              </p:cNvPr>
              <p:cNvSpPr>
                <a:spLocks noGrp="1" noRot="1" noChangeAspect="1" noMove="1" noResize="1" noEditPoints="1" noAdjustHandles="1" noChangeArrowheads="1" noChangeShapeType="1" noTextEdit="1"/>
              </p:cNvSpPr>
              <p:nvPr>
                <p:ph type="title"/>
              </p:nvPr>
            </p:nvSpPr>
            <p:spPr>
              <a:blipFill>
                <a:blip r:embed="rId2"/>
                <a:stretch>
                  <a:fillRect l="-2377" t="-12903" r="-2783" b="-2212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02EAB15-70DA-8329-84CE-C231E0DCCAF9}"/>
                  </a:ext>
                </a:extLst>
              </p:cNvPr>
              <p:cNvSpPr/>
              <p:nvPr/>
            </p:nvSpPr>
            <p:spPr>
              <a:xfrm>
                <a:off x="914400" y="5835162"/>
                <a:ext cx="4126992" cy="95883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Max Electric field = 7.91 </a:t>
                </a:r>
                <a14:m>
                  <m:oMath xmlns:m="http://schemas.openxmlformats.org/officeDocument/2006/math">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10</m:t>
                        </m:r>
                      </m:e>
                      <m:sup>
                        <m:r>
                          <a:rPr lang="en-US" b="0" i="1" smtClean="0">
                            <a:latin typeface="Cambria Math" panose="02040503050406030204" pitchFamily="18" charset="0"/>
                          </a:rPr>
                          <m:t>4</m:t>
                        </m:r>
                      </m:sup>
                    </m:sSup>
                    <m:r>
                      <m:rPr>
                        <m:nor/>
                      </m:rPr>
                      <a:rPr lang="ar-AE" i="1"/>
                      <m:t> </m:t>
                    </m:r>
                    <m:r>
                      <a:rPr lang="en-US" b="0" i="1" smtClean="0">
                        <a:latin typeface="Cambria Math" panose="02040503050406030204" pitchFamily="18" charset="0"/>
                      </a:rPr>
                      <m:t>𝑉</m:t>
                    </m:r>
                    <m:r>
                      <a:rPr lang="en-US" b="0" i="1" smtClean="0">
                        <a:latin typeface="Cambria Math" panose="02040503050406030204" pitchFamily="18" charset="0"/>
                      </a:rPr>
                      <m:t>/</m:t>
                    </m:r>
                    <m:r>
                      <a:rPr lang="ar-AE" i="1">
                        <a:latin typeface="Cambria Math" panose="02040503050406030204" pitchFamily="18" charset="0"/>
                      </a:rPr>
                      <m:t>𝑐</m:t>
                    </m:r>
                    <m:r>
                      <a:rPr lang="en-US" b="0" i="1" smtClean="0">
                        <a:latin typeface="Cambria Math" panose="02040503050406030204" pitchFamily="18" charset="0"/>
                      </a:rPr>
                      <m:t>𝑚</m:t>
                    </m:r>
                  </m:oMath>
                </a14:m>
                <a:r>
                  <a:rPr lang="en-IN" dirty="0"/>
                  <a:t>     and depletion region width = 0.193 µm</a:t>
                </a:r>
              </a:p>
            </p:txBody>
          </p:sp>
        </mc:Choice>
        <mc:Fallback xmlns="">
          <p:sp>
            <p:nvSpPr>
              <p:cNvPr id="9" name="Rectangle 8">
                <a:extLst>
                  <a:ext uri="{FF2B5EF4-FFF2-40B4-BE49-F238E27FC236}">
                    <a16:creationId xmlns:a16="http://schemas.microsoft.com/office/drawing/2014/main" id="{802EAB15-70DA-8329-84CE-C231E0DCCAF9}"/>
                  </a:ext>
                </a:extLst>
              </p:cNvPr>
              <p:cNvSpPr>
                <a:spLocks noRot="1" noChangeAspect="1" noMove="1" noResize="1" noEditPoints="1" noAdjustHandles="1" noChangeArrowheads="1" noChangeShapeType="1" noTextEdit="1"/>
              </p:cNvSpPr>
              <p:nvPr/>
            </p:nvSpPr>
            <p:spPr>
              <a:xfrm>
                <a:off x="914400" y="5835162"/>
                <a:ext cx="4126992" cy="958830"/>
              </a:xfrm>
              <a:prstGeom prst="rect">
                <a:avLst/>
              </a:prstGeom>
              <a:blipFill>
                <a:blip r:embed="rId3"/>
                <a:stretch>
                  <a:fillRect/>
                </a:stretch>
              </a:blipFill>
            </p:spPr>
            <p:txBody>
              <a:bodyPr/>
              <a:lstStyle/>
              <a:p>
                <a:r>
                  <a:rPr lang="en-IN">
                    <a:noFill/>
                  </a:rPr>
                  <a:t> </a:t>
                </a:r>
              </a:p>
            </p:txBody>
          </p:sp>
        </mc:Fallback>
      </mc:AlternateContent>
      <p:pic>
        <p:nvPicPr>
          <p:cNvPr id="17" name="Content Placeholder 16">
            <a:extLst>
              <a:ext uri="{FF2B5EF4-FFF2-40B4-BE49-F238E27FC236}">
                <a16:creationId xmlns:a16="http://schemas.microsoft.com/office/drawing/2014/main" id="{719A3463-C06F-336C-EE41-317F405C56DB}"/>
              </a:ext>
            </a:extLst>
          </p:cNvPr>
          <p:cNvPicPr>
            <a:picLocks noGrp="1" noChangeAspect="1"/>
          </p:cNvPicPr>
          <p:nvPr>
            <p:ph sz="half" idx="2"/>
          </p:nvPr>
        </p:nvPicPr>
        <p:blipFill>
          <a:blip r:embed="rId4"/>
          <a:stretch>
            <a:fillRect/>
          </a:stretch>
        </p:blipFill>
        <p:spPr>
          <a:xfrm>
            <a:off x="914400" y="3730752"/>
            <a:ext cx="4126992" cy="2104410"/>
          </a:xfrm>
          <a:prstGeom prst="rect">
            <a:avLst/>
          </a:prstGeom>
        </p:spPr>
      </p:pic>
      <p:pic>
        <p:nvPicPr>
          <p:cNvPr id="21" name="Content Placeholder 20">
            <a:extLst>
              <a:ext uri="{FF2B5EF4-FFF2-40B4-BE49-F238E27FC236}">
                <a16:creationId xmlns:a16="http://schemas.microsoft.com/office/drawing/2014/main" id="{9064E2A2-C778-5602-DC9A-BB7DBD66A025}"/>
              </a:ext>
            </a:extLst>
          </p:cNvPr>
          <p:cNvPicPr>
            <a:picLocks noGrp="1" noChangeAspect="1"/>
          </p:cNvPicPr>
          <p:nvPr>
            <p:ph sz="half" idx="1"/>
          </p:nvPr>
        </p:nvPicPr>
        <p:blipFill>
          <a:blip r:embed="rId5"/>
          <a:stretch>
            <a:fillRect/>
          </a:stretch>
        </p:blipFill>
        <p:spPr>
          <a:xfrm>
            <a:off x="914400" y="1690687"/>
            <a:ext cx="4126992" cy="2040065"/>
          </a:xfrm>
          <a:prstGeom prst="rect">
            <a:avLst/>
          </a:prstGeom>
        </p:spPr>
      </p:pic>
      <p:pic>
        <p:nvPicPr>
          <p:cNvPr id="3" name="Content Placeholder 12">
            <a:extLst>
              <a:ext uri="{FF2B5EF4-FFF2-40B4-BE49-F238E27FC236}">
                <a16:creationId xmlns:a16="http://schemas.microsoft.com/office/drawing/2014/main" id="{0B77D868-990F-2448-0B3A-8E062CC2E700}"/>
              </a:ext>
            </a:extLst>
          </p:cNvPr>
          <p:cNvPicPr>
            <a:picLocks noChangeAspect="1"/>
          </p:cNvPicPr>
          <p:nvPr/>
        </p:nvPicPr>
        <p:blipFill>
          <a:blip r:embed="rId6"/>
          <a:stretch>
            <a:fillRect/>
          </a:stretch>
        </p:blipFill>
        <p:spPr>
          <a:xfrm>
            <a:off x="6321552" y="1690686"/>
            <a:ext cx="4126992" cy="2040065"/>
          </a:xfrm>
          <a:prstGeom prst="rect">
            <a:avLst/>
          </a:prstGeom>
        </p:spPr>
      </p:pic>
      <p:pic>
        <p:nvPicPr>
          <p:cNvPr id="4" name="Content Placeholder 15">
            <a:extLst>
              <a:ext uri="{FF2B5EF4-FFF2-40B4-BE49-F238E27FC236}">
                <a16:creationId xmlns:a16="http://schemas.microsoft.com/office/drawing/2014/main" id="{80D23472-740E-5789-C27B-08374807C172}"/>
              </a:ext>
            </a:extLst>
          </p:cNvPr>
          <p:cNvPicPr>
            <a:picLocks noChangeAspect="1"/>
          </p:cNvPicPr>
          <p:nvPr/>
        </p:nvPicPr>
        <p:blipFill>
          <a:blip r:embed="rId7"/>
          <a:stretch>
            <a:fillRect/>
          </a:stretch>
        </p:blipFill>
        <p:spPr>
          <a:xfrm>
            <a:off x="6321552" y="3735016"/>
            <a:ext cx="4126992" cy="2064860"/>
          </a:xfrm>
          <a:prstGeom prst="rect">
            <a:avLst/>
          </a:prstGeom>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82EC83DC-F318-149F-C6DB-1C4367300BD4}"/>
                  </a:ext>
                </a:extLst>
              </p:cNvPr>
              <p:cNvSpPr/>
              <p:nvPr/>
            </p:nvSpPr>
            <p:spPr>
              <a:xfrm>
                <a:off x="6321552" y="5799876"/>
                <a:ext cx="4126992" cy="101891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Max Electric field = 5.607 </a:t>
                </a:r>
                <a14:m>
                  <m:oMath xmlns:m="http://schemas.openxmlformats.org/officeDocument/2006/math">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10</m:t>
                        </m:r>
                      </m:e>
                      <m:sup>
                        <m:r>
                          <a:rPr lang="en-US" b="0" i="1" smtClean="0">
                            <a:latin typeface="Cambria Math" panose="02040503050406030204" pitchFamily="18" charset="0"/>
                          </a:rPr>
                          <m:t>5</m:t>
                        </m:r>
                      </m:sup>
                    </m:sSup>
                    <m:r>
                      <m:rPr>
                        <m:nor/>
                      </m:rPr>
                      <a:rPr lang="ar-AE" i="1"/>
                      <m:t> </m:t>
                    </m:r>
                    <m:r>
                      <a:rPr lang="en-US" b="0" i="1" smtClean="0">
                        <a:latin typeface="Cambria Math" panose="02040503050406030204" pitchFamily="18" charset="0"/>
                      </a:rPr>
                      <m:t>𝑉</m:t>
                    </m:r>
                    <m:r>
                      <a:rPr lang="en-US" b="0" i="1" smtClean="0">
                        <a:latin typeface="Cambria Math" panose="02040503050406030204" pitchFamily="18" charset="0"/>
                      </a:rPr>
                      <m:t>/</m:t>
                    </m:r>
                    <m:r>
                      <a:rPr lang="ar-AE" i="1">
                        <a:latin typeface="Cambria Math" panose="02040503050406030204" pitchFamily="18" charset="0"/>
                      </a:rPr>
                      <m:t>𝑐</m:t>
                    </m:r>
                    <m:r>
                      <a:rPr lang="en-US" b="0" i="1" smtClean="0">
                        <a:latin typeface="Cambria Math" panose="02040503050406030204" pitchFamily="18" charset="0"/>
                      </a:rPr>
                      <m:t>𝑚</m:t>
                    </m:r>
                  </m:oMath>
                </a14:m>
                <a:r>
                  <a:rPr lang="en-IN" dirty="0"/>
                  <a:t>     and depletion region width = 0.0084 µm</a:t>
                </a:r>
              </a:p>
            </p:txBody>
          </p:sp>
        </mc:Choice>
        <mc:Fallback xmlns="">
          <p:sp>
            <p:nvSpPr>
              <p:cNvPr id="7" name="Rectangle 6">
                <a:extLst>
                  <a:ext uri="{FF2B5EF4-FFF2-40B4-BE49-F238E27FC236}">
                    <a16:creationId xmlns:a16="http://schemas.microsoft.com/office/drawing/2014/main" id="{82EC83DC-F318-149F-C6DB-1C4367300BD4}"/>
                  </a:ext>
                </a:extLst>
              </p:cNvPr>
              <p:cNvSpPr>
                <a:spLocks noRot="1" noChangeAspect="1" noMove="1" noResize="1" noEditPoints="1" noAdjustHandles="1" noChangeArrowheads="1" noChangeShapeType="1" noTextEdit="1"/>
              </p:cNvSpPr>
              <p:nvPr/>
            </p:nvSpPr>
            <p:spPr>
              <a:xfrm>
                <a:off x="6321552" y="5799876"/>
                <a:ext cx="4126992" cy="1018911"/>
              </a:xfrm>
              <a:prstGeom prst="rect">
                <a:avLst/>
              </a:prstGeom>
              <a:blipFill>
                <a:blip r:embed="rId8"/>
                <a:stretch>
                  <a:fillRect l="-147" r="-147"/>
                </a:stretch>
              </a:blipFill>
            </p:spPr>
            <p:txBody>
              <a:bodyPr/>
              <a:lstStyle/>
              <a:p>
                <a:r>
                  <a:rPr lang="en-IN">
                    <a:noFill/>
                  </a:rPr>
                  <a:t> </a:t>
                </a:r>
              </a:p>
            </p:txBody>
          </p:sp>
        </mc:Fallback>
      </mc:AlternateContent>
    </p:spTree>
    <p:extLst>
      <p:ext uri="{BB962C8B-B14F-4D97-AF65-F5344CB8AC3E}">
        <p14:creationId xmlns:p14="http://schemas.microsoft.com/office/powerpoint/2010/main" val="92139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C504B-D132-86F5-4C87-409DEF62DAA1}"/>
              </a:ext>
            </a:extLst>
          </p:cNvPr>
          <p:cNvSpPr>
            <a:spLocks noGrp="1"/>
          </p:cNvSpPr>
          <p:nvPr>
            <p:ph type="title"/>
          </p:nvPr>
        </p:nvSpPr>
        <p:spPr/>
        <p:txBody>
          <a:bodyPr/>
          <a:lstStyle/>
          <a:p>
            <a:pPr algn="ctr"/>
            <a:r>
              <a:rPr lang="en-IN" dirty="0"/>
              <a:t>Table and Comparison</a:t>
            </a:r>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FF0B2D54-66F8-8695-5773-89D50AB23A7E}"/>
                  </a:ext>
                </a:extLst>
              </p:cNvPr>
              <p:cNvGraphicFramePr>
                <a:graphicFrameLocks noGrp="1"/>
              </p:cNvGraphicFramePr>
              <p:nvPr>
                <p:ph sz="half" idx="1"/>
                <p:extLst>
                  <p:ext uri="{D42A27DB-BD31-4B8C-83A1-F6EECF244321}">
                    <p14:modId xmlns:p14="http://schemas.microsoft.com/office/powerpoint/2010/main" val="832599121"/>
                  </p:ext>
                </p:extLst>
              </p:nvPr>
            </p:nvGraphicFramePr>
            <p:xfrm>
              <a:off x="838200" y="1928790"/>
              <a:ext cx="4520184" cy="3962528"/>
            </p:xfrm>
            <a:graphic>
              <a:graphicData uri="http://schemas.openxmlformats.org/drawingml/2006/table">
                <a:tbl>
                  <a:tblPr firstRow="1" bandRow="1">
                    <a:tableStyleId>{5C22544A-7EE6-4342-B048-85BDC9FD1C3A}</a:tableStyleId>
                  </a:tblPr>
                  <a:tblGrid>
                    <a:gridCol w="1506728">
                      <a:extLst>
                        <a:ext uri="{9D8B030D-6E8A-4147-A177-3AD203B41FA5}">
                          <a16:colId xmlns:a16="http://schemas.microsoft.com/office/drawing/2014/main" val="3596189152"/>
                        </a:ext>
                      </a:extLst>
                    </a:gridCol>
                    <a:gridCol w="1506728">
                      <a:extLst>
                        <a:ext uri="{9D8B030D-6E8A-4147-A177-3AD203B41FA5}">
                          <a16:colId xmlns:a16="http://schemas.microsoft.com/office/drawing/2014/main" val="3073240022"/>
                        </a:ext>
                      </a:extLst>
                    </a:gridCol>
                    <a:gridCol w="1506728">
                      <a:extLst>
                        <a:ext uri="{9D8B030D-6E8A-4147-A177-3AD203B41FA5}">
                          <a16:colId xmlns:a16="http://schemas.microsoft.com/office/drawing/2014/main" val="3742343845"/>
                        </a:ext>
                      </a:extLst>
                    </a:gridCol>
                  </a:tblGrid>
                  <a:tr h="412197">
                    <a:tc>
                      <a:txBody>
                        <a:bodyPr/>
                        <a:lstStyle/>
                        <a:p>
                          <a:pPr algn="ctr">
                            <a:buNone/>
                          </a:pPr>
                          <a:r>
                            <a:rPr lang="en-IN" sz="1400" b="1" dirty="0"/>
                            <a:t>Quantity</a:t>
                          </a:r>
                        </a:p>
                      </a:txBody>
                      <a:tcPr anchor="ctr"/>
                    </a:tc>
                    <a:tc>
                      <a:txBody>
                        <a:bodyPr/>
                        <a:lstStyle/>
                        <a:p>
                          <a:pPr algn="ctr">
                            <a:buNone/>
                          </a:pPr>
                          <a:r>
                            <a:rPr lang="en-IN" sz="1400" b="1" dirty="0"/>
                            <a:t>Theoretical</a:t>
                          </a:r>
                        </a:p>
                      </a:txBody>
                      <a:tcPr anchor="ctr"/>
                    </a:tc>
                    <a:tc>
                      <a:txBody>
                        <a:bodyPr/>
                        <a:lstStyle/>
                        <a:p>
                          <a:pPr algn="ctr">
                            <a:buNone/>
                          </a:pPr>
                          <a:r>
                            <a:rPr lang="en-IN" sz="1400" b="1" dirty="0"/>
                            <a:t>Simulation</a:t>
                          </a:r>
                        </a:p>
                      </a:txBody>
                      <a:tcPr anchor="ctr"/>
                    </a:tc>
                    <a:extLst>
                      <a:ext uri="{0D108BD9-81ED-4DB2-BD59-A6C34878D82A}">
                        <a16:rowId xmlns:a16="http://schemas.microsoft.com/office/drawing/2014/main" val="2311980996"/>
                      </a:ext>
                    </a:extLst>
                  </a:tr>
                  <a:tr h="575947">
                    <a:tc>
                      <a:txBody>
                        <a:bodyPr/>
                        <a:lstStyle/>
                        <a:p>
                          <a:pPr algn="ctr">
                            <a:buNone/>
                          </a:pPr>
                          <a:r>
                            <a:rPr lang="en-IN" sz="1400" b="1" dirty="0"/>
                            <a:t>Built-in Voltage </a:t>
                          </a:r>
                          <a14:m>
                            <m:oMath xmlns:m="http://schemas.openxmlformats.org/officeDocument/2006/math">
                              <m:sSub>
                                <m:sSubPr>
                                  <m:ctrlPr>
                                    <a:rPr lang="ar-AE" sz="1400" b="1" i="1">
                                      <a:latin typeface="Cambria Math" panose="02040503050406030204" pitchFamily="18" charset="0"/>
                                    </a:rPr>
                                  </m:ctrlPr>
                                </m:sSubPr>
                                <m:e>
                                  <m:r>
                                    <a:rPr lang="ar-AE" sz="1400" b="1" i="1">
                                      <a:latin typeface="Cambria Math" panose="02040503050406030204" pitchFamily="18" charset="0"/>
                                    </a:rPr>
                                    <m:t>𝑽</m:t>
                                  </m:r>
                                </m:e>
                                <m:sub>
                                  <m:r>
                                    <a:rPr lang="ar-AE" sz="1400" b="1" i="1">
                                      <a:latin typeface="Cambria Math" panose="02040503050406030204" pitchFamily="18" charset="0"/>
                                    </a:rPr>
                                    <m:t>𝒃𝒊</m:t>
                                  </m:r>
                                </m:sub>
                              </m:sSub>
                            </m:oMath>
                          </a14:m>
                          <a:endParaRPr lang="ar-AE" sz="1400" b="1" dirty="0"/>
                        </a:p>
                      </a:txBody>
                      <a:tcPr anchor="ctr"/>
                    </a:tc>
                    <a:tc>
                      <a:txBody>
                        <a:bodyPr/>
                        <a:lstStyle/>
                        <a:p>
                          <a:pPr algn="ctr">
                            <a:buNone/>
                          </a:pPr>
                          <a:r>
                            <a:rPr lang="en-IN" sz="1400" dirty="0"/>
                            <a:t>0.918 V</a:t>
                          </a:r>
                        </a:p>
                      </a:txBody>
                      <a:tcPr anchor="ctr"/>
                    </a:tc>
                    <a:tc>
                      <a:txBody>
                        <a:bodyPr/>
                        <a:lstStyle/>
                        <a:p>
                          <a:pPr algn="ctr">
                            <a:buNone/>
                          </a:pPr>
                          <a:r>
                            <a:rPr lang="en-IN" sz="1400"/>
                            <a:t>0.85 V</a:t>
                          </a:r>
                        </a:p>
                      </a:txBody>
                      <a:tcPr anchor="ctr"/>
                    </a:tc>
                    <a:extLst>
                      <a:ext uri="{0D108BD9-81ED-4DB2-BD59-A6C34878D82A}">
                        <a16:rowId xmlns:a16="http://schemas.microsoft.com/office/drawing/2014/main" val="807755452"/>
                      </a:ext>
                    </a:extLst>
                  </a:tr>
                  <a:tr h="575947">
                    <a:tc>
                      <a:txBody>
                        <a:bodyPr/>
                        <a:lstStyle/>
                        <a:p>
                          <a:pPr algn="ctr">
                            <a:buNone/>
                          </a:pPr>
                          <a:r>
                            <a:rPr lang="en-IN" sz="1400" b="1" dirty="0"/>
                            <a:t>Total Depletion Width </a:t>
                          </a:r>
                          <a14:m>
                            <m:oMath xmlns:m="http://schemas.openxmlformats.org/officeDocument/2006/math">
                              <m:r>
                                <a:rPr lang="en-IN" sz="1400" b="1" i="1">
                                  <a:latin typeface="Cambria Math" panose="02040503050406030204" pitchFamily="18" charset="0"/>
                                </a:rPr>
                                <m:t>𝑾</m:t>
                              </m:r>
                            </m:oMath>
                          </a14:m>
                          <a:endParaRPr lang="en-IN" sz="1400" b="1" dirty="0"/>
                        </a:p>
                      </a:txBody>
                      <a:tcPr anchor="ctr"/>
                    </a:tc>
                    <a:tc>
                      <a:txBody>
                        <a:bodyPr/>
                        <a:lstStyle/>
                        <a:p>
                          <a:pPr algn="ctr">
                            <a:buNone/>
                          </a:pPr>
                          <a:r>
                            <a:rPr lang="en-IN" sz="1400" dirty="0"/>
                            <a:t>0.069 µm</a:t>
                          </a:r>
                        </a:p>
                      </a:txBody>
                      <a:tcPr anchor="ctr"/>
                    </a:tc>
                    <a:tc>
                      <a:txBody>
                        <a:bodyPr/>
                        <a:lstStyle/>
                        <a:p>
                          <a:pPr algn="ctr">
                            <a:buNone/>
                          </a:pPr>
                          <a:r>
                            <a:rPr lang="en-IN" sz="1400" dirty="0"/>
                            <a:t>0.067 µm</a:t>
                          </a:r>
                        </a:p>
                      </a:txBody>
                      <a:tcPr anchor="ctr"/>
                    </a:tc>
                    <a:extLst>
                      <a:ext uri="{0D108BD9-81ED-4DB2-BD59-A6C34878D82A}">
                        <a16:rowId xmlns:a16="http://schemas.microsoft.com/office/drawing/2014/main" val="3913448072"/>
                      </a:ext>
                    </a:extLst>
                  </a:tr>
                  <a:tr h="597192">
                    <a:tc>
                      <a:txBody>
                        <a:bodyPr/>
                        <a:lstStyle/>
                        <a:p>
                          <a:pPr algn="ctr">
                            <a:buNone/>
                          </a:pPr>
                          <a:r>
                            <a:rPr lang="en-IN" sz="1400" b="1" dirty="0"/>
                            <a:t>Depletion Width </a:t>
                          </a:r>
                          <a14:m>
                            <m:oMath xmlns:m="http://schemas.openxmlformats.org/officeDocument/2006/math">
                              <m:sSub>
                                <m:sSubPr>
                                  <m:ctrlPr>
                                    <a:rPr lang="ar-AE" sz="1400" b="1" i="1">
                                      <a:latin typeface="Cambria Math" panose="02040503050406030204" pitchFamily="18" charset="0"/>
                                    </a:rPr>
                                  </m:ctrlPr>
                                </m:sSubPr>
                                <m:e>
                                  <m:r>
                                    <a:rPr lang="ar-AE" sz="1400" b="1" i="1">
                                      <a:latin typeface="Cambria Math" panose="02040503050406030204" pitchFamily="18" charset="0"/>
                                    </a:rPr>
                                    <m:t>𝒙</m:t>
                                  </m:r>
                                </m:e>
                                <m:sub>
                                  <m:r>
                                    <a:rPr lang="ar-AE" sz="1400" b="1" i="1">
                                      <a:latin typeface="Cambria Math" panose="02040503050406030204" pitchFamily="18" charset="0"/>
                                    </a:rPr>
                                    <m:t>𝒏</m:t>
                                  </m:r>
                                </m:sub>
                              </m:sSub>
                              <m:r>
                                <a:rPr lang="ar-AE" sz="1400" b="1" i="0">
                                  <a:latin typeface="Cambria Math" panose="02040503050406030204" pitchFamily="18" charset="0"/>
                                </a:rPr>
                                <m:t>=</m:t>
                              </m:r>
                              <m:sSub>
                                <m:sSubPr>
                                  <m:ctrlPr>
                                    <a:rPr lang="ar-AE" sz="1400" b="1" i="1">
                                      <a:latin typeface="Cambria Math" panose="02040503050406030204" pitchFamily="18" charset="0"/>
                                    </a:rPr>
                                  </m:ctrlPr>
                                </m:sSubPr>
                                <m:e>
                                  <m:r>
                                    <a:rPr lang="ar-AE" sz="1400" b="1" i="1">
                                      <a:latin typeface="Cambria Math" panose="02040503050406030204" pitchFamily="18" charset="0"/>
                                    </a:rPr>
                                    <m:t>𝒙</m:t>
                                  </m:r>
                                </m:e>
                                <m:sub>
                                  <m:r>
                                    <a:rPr lang="ar-AE" sz="1400" b="1" i="1">
                                      <a:latin typeface="Cambria Math" panose="02040503050406030204" pitchFamily="18" charset="0"/>
                                    </a:rPr>
                                    <m:t>𝒑</m:t>
                                  </m:r>
                                </m:sub>
                              </m:sSub>
                            </m:oMath>
                          </a14:m>
                          <a:endParaRPr lang="ar-AE" sz="1400" b="1" dirty="0"/>
                        </a:p>
                      </a:txBody>
                      <a:tcPr anchor="ctr"/>
                    </a:tc>
                    <a:tc>
                      <a:txBody>
                        <a:bodyPr/>
                        <a:lstStyle/>
                        <a:p>
                          <a:pPr algn="ctr">
                            <a:buNone/>
                          </a:pPr>
                          <a:r>
                            <a:rPr lang="en-IN" sz="1400"/>
                            <a:t>0.0345 µm</a:t>
                          </a:r>
                        </a:p>
                      </a:txBody>
                      <a:tcPr anchor="ctr"/>
                    </a:tc>
                    <a:tc>
                      <a:txBody>
                        <a:bodyPr/>
                        <a:lstStyle/>
                        <a:p>
                          <a:pPr algn="ctr">
                            <a:buNone/>
                          </a:pPr>
                          <a:r>
                            <a:rPr lang="en-IN" sz="1400"/>
                            <a:t>0.033 µm</a:t>
                          </a:r>
                        </a:p>
                      </a:txBody>
                      <a:tcPr anchor="ctr"/>
                    </a:tc>
                    <a:extLst>
                      <a:ext uri="{0D108BD9-81ED-4DB2-BD59-A6C34878D82A}">
                        <a16:rowId xmlns:a16="http://schemas.microsoft.com/office/drawing/2014/main" val="3361494004"/>
                      </a:ext>
                    </a:extLst>
                  </a:tr>
                  <a:tr h="813101">
                    <a:tc>
                      <a:txBody>
                        <a:bodyPr/>
                        <a:lstStyle/>
                        <a:p>
                          <a:pPr algn="ctr">
                            <a:buNone/>
                          </a:pPr>
                          <a:r>
                            <a:rPr lang="en-IN" sz="1400" b="1" dirty="0"/>
                            <a:t>Maximum Electric Field </a:t>
                          </a:r>
                          <a14:m>
                            <m:oMath xmlns:m="http://schemas.openxmlformats.org/officeDocument/2006/math">
                              <m:sSub>
                                <m:sSubPr>
                                  <m:ctrlPr>
                                    <a:rPr lang="ar-AE" sz="1400" b="1" i="1">
                                      <a:latin typeface="Cambria Math" panose="02040503050406030204" pitchFamily="18" charset="0"/>
                                    </a:rPr>
                                  </m:ctrlPr>
                                </m:sSubPr>
                                <m:e>
                                  <m:r>
                                    <a:rPr lang="ar-AE" sz="1400" b="1" i="1">
                                      <a:latin typeface="Cambria Math" panose="02040503050406030204" pitchFamily="18" charset="0"/>
                                    </a:rPr>
                                    <m:t>𝑬</m:t>
                                  </m:r>
                                </m:e>
                                <m:sub>
                                  <m:r>
                                    <a:rPr lang="ar-AE" sz="1400" b="1" i="1">
                                      <a:latin typeface="Cambria Math" panose="02040503050406030204" pitchFamily="18" charset="0"/>
                                    </a:rPr>
                                    <m:t>𝒎𝒂𝒙</m:t>
                                  </m:r>
                                </m:sub>
                              </m:sSub>
                            </m:oMath>
                          </a14:m>
                          <a:endParaRPr lang="ar-AE" sz="1400" b="1" dirty="0"/>
                        </a:p>
                      </a:txBody>
                      <a:tcPr anchor="ctr"/>
                    </a:tc>
                    <a:tc>
                      <a:txBody>
                        <a:bodyPr/>
                        <a:lstStyle/>
                        <a:p>
                          <a:pPr algn="ctr">
                            <a:buNone/>
                          </a:pPr>
                          <a14:m>
                            <m:oMath xmlns:m="http://schemas.openxmlformats.org/officeDocument/2006/math">
                              <m:r>
                                <a:rPr lang="ar-AE" sz="1400" smtClean="0">
                                  <a:latin typeface="Cambria Math" panose="02040503050406030204" pitchFamily="18" charset="0"/>
                                </a:rPr>
                                <m:t>2</m:t>
                              </m:r>
                              <m:r>
                                <a:rPr lang="ar-AE" sz="1400" smtClean="0">
                                  <a:latin typeface="Cambria Math" panose="02040503050406030204" pitchFamily="18" charset="0"/>
                                </a:rPr>
                                <m:t>.</m:t>
                              </m:r>
                              <m:r>
                                <a:rPr lang="ar-AE" sz="1400" smtClean="0">
                                  <a:latin typeface="Cambria Math" panose="02040503050406030204" pitchFamily="18" charset="0"/>
                                </a:rPr>
                                <m:t>66</m:t>
                              </m:r>
                              <m:r>
                                <a:rPr lang="ar-AE" sz="1400" i="0">
                                  <a:latin typeface="Cambria Math" panose="02040503050406030204" pitchFamily="18" charset="0"/>
                                </a:rPr>
                                <m:t>×</m:t>
                              </m:r>
                              <m:sSup>
                                <m:sSupPr>
                                  <m:ctrlPr>
                                    <a:rPr lang="ar-AE" sz="1400" i="1">
                                      <a:latin typeface="Cambria Math" panose="02040503050406030204" pitchFamily="18" charset="0"/>
                                    </a:rPr>
                                  </m:ctrlPr>
                                </m:sSupPr>
                                <m:e>
                                  <m:r>
                                    <a:rPr lang="ar-AE" sz="1400" i="0">
                                      <a:latin typeface="Cambria Math" panose="02040503050406030204" pitchFamily="18" charset="0"/>
                                    </a:rPr>
                                    <m:t>10</m:t>
                                  </m:r>
                                </m:e>
                                <m:sup>
                                  <m:r>
                                    <a:rPr lang="ar-AE" sz="1400" i="0">
                                      <a:latin typeface="Cambria Math" panose="02040503050406030204" pitchFamily="18" charset="0"/>
                                    </a:rPr>
                                    <m:t>5</m:t>
                                  </m:r>
                                </m:sup>
                              </m:sSup>
                            </m:oMath>
                          </a14:m>
                          <a:r>
                            <a:rPr lang="en-IN" sz="1400" dirty="0"/>
                            <a:t>V/cm</a:t>
                          </a:r>
                        </a:p>
                      </a:txBody>
                      <a:tcPr anchor="ctr"/>
                    </a:tc>
                    <a:tc>
                      <a:txBody>
                        <a:bodyPr/>
                        <a:lstStyle/>
                        <a:p>
                          <a:pPr algn="ctr">
                            <a:buNone/>
                          </a:pPr>
                          <a14:m>
                            <m:oMath xmlns:m="http://schemas.openxmlformats.org/officeDocument/2006/math">
                              <m:r>
                                <a:rPr lang="ar-AE" sz="1400" smtClean="0">
                                  <a:latin typeface="Cambria Math" panose="02040503050406030204" pitchFamily="18" charset="0"/>
                                </a:rPr>
                                <m:t>2</m:t>
                              </m:r>
                              <m:r>
                                <a:rPr lang="en-US" sz="1400" b="0" i="0" smtClean="0">
                                  <a:latin typeface="Cambria Math" panose="02040503050406030204" pitchFamily="18" charset="0"/>
                                </a:rPr>
                                <m:t>.</m:t>
                              </m:r>
                              <m:r>
                                <a:rPr lang="en-US" sz="1400" b="0" i="0" smtClean="0">
                                  <a:latin typeface="Cambria Math" panose="02040503050406030204" pitchFamily="18" charset="0"/>
                                </a:rPr>
                                <m:t>179</m:t>
                              </m:r>
                              <m:r>
                                <a:rPr lang="ar-AE" sz="1400" i="0">
                                  <a:latin typeface="Cambria Math" panose="02040503050406030204" pitchFamily="18" charset="0"/>
                                </a:rPr>
                                <m:t>×</m:t>
                              </m:r>
                              <m:sSup>
                                <m:sSupPr>
                                  <m:ctrlPr>
                                    <a:rPr lang="ar-AE" sz="1400" i="1">
                                      <a:latin typeface="Cambria Math" panose="02040503050406030204" pitchFamily="18" charset="0"/>
                                    </a:rPr>
                                  </m:ctrlPr>
                                </m:sSupPr>
                                <m:e>
                                  <m:r>
                                    <a:rPr lang="ar-AE" sz="1400" i="0">
                                      <a:latin typeface="Cambria Math" panose="02040503050406030204" pitchFamily="18" charset="0"/>
                                    </a:rPr>
                                    <m:t>10</m:t>
                                  </m:r>
                                </m:e>
                                <m:sup>
                                  <m:r>
                                    <a:rPr lang="ar-AE" sz="1400" i="0">
                                      <a:latin typeface="Cambria Math" panose="02040503050406030204" pitchFamily="18" charset="0"/>
                                    </a:rPr>
                                    <m:t>5</m:t>
                                  </m:r>
                                </m:sup>
                              </m:sSup>
                            </m:oMath>
                          </a14:m>
                          <a:r>
                            <a:rPr lang="en-IN" sz="1400" dirty="0"/>
                            <a:t>V/cm</a:t>
                          </a:r>
                        </a:p>
                      </a:txBody>
                      <a:tcPr anchor="ctr"/>
                    </a:tc>
                    <a:extLst>
                      <a:ext uri="{0D108BD9-81ED-4DB2-BD59-A6C34878D82A}">
                        <a16:rowId xmlns:a16="http://schemas.microsoft.com/office/drawing/2014/main" val="2465556777"/>
                      </a:ext>
                    </a:extLst>
                  </a:tr>
                  <a:tr h="412197">
                    <a:tc>
                      <a:txBody>
                        <a:bodyPr/>
                        <a:lstStyle/>
                        <a:p>
                          <a:pPr algn="ctr">
                            <a:buNone/>
                          </a:pPr>
                          <a:r>
                            <a:rPr lang="en-IN" sz="1400" b="1" dirty="0"/>
                            <a:t>Band Gap </a:t>
                          </a:r>
                          <a14:m>
                            <m:oMath xmlns:m="http://schemas.openxmlformats.org/officeDocument/2006/math">
                              <m:sSub>
                                <m:sSubPr>
                                  <m:ctrlPr>
                                    <a:rPr lang="ar-AE" sz="1400" b="1" i="1">
                                      <a:latin typeface="Cambria Math" panose="02040503050406030204" pitchFamily="18" charset="0"/>
                                    </a:rPr>
                                  </m:ctrlPr>
                                </m:sSubPr>
                                <m:e>
                                  <m:r>
                                    <a:rPr lang="ar-AE" sz="1400" b="1" i="1">
                                      <a:latin typeface="Cambria Math" panose="02040503050406030204" pitchFamily="18" charset="0"/>
                                    </a:rPr>
                                    <m:t>𝑬</m:t>
                                  </m:r>
                                </m:e>
                                <m:sub>
                                  <m:r>
                                    <a:rPr lang="ar-AE" sz="1400" b="1" i="1">
                                      <a:latin typeface="Cambria Math" panose="02040503050406030204" pitchFamily="18" charset="0"/>
                                    </a:rPr>
                                    <m:t>𝒈</m:t>
                                  </m:r>
                                </m:sub>
                              </m:sSub>
                            </m:oMath>
                          </a14:m>
                          <a:endParaRPr lang="ar-AE" sz="1400" b="1" dirty="0"/>
                        </a:p>
                      </a:txBody>
                      <a:tcPr anchor="ctr"/>
                    </a:tc>
                    <a:tc>
                      <a:txBody>
                        <a:bodyPr/>
                        <a:lstStyle/>
                        <a:p>
                          <a:pPr algn="ctr">
                            <a:buNone/>
                          </a:pPr>
                          <a:r>
                            <a:rPr lang="en-IN" sz="1400" dirty="0"/>
                            <a:t>1.12 eV</a:t>
                          </a:r>
                        </a:p>
                      </a:txBody>
                      <a:tcPr anchor="ctr"/>
                    </a:tc>
                    <a:tc>
                      <a:txBody>
                        <a:bodyPr/>
                        <a:lstStyle/>
                        <a:p>
                          <a:pPr algn="ctr">
                            <a:buNone/>
                          </a:pPr>
                          <a:r>
                            <a:rPr lang="en-IN" sz="1400" dirty="0"/>
                            <a:t>1.10 eV</a:t>
                          </a:r>
                        </a:p>
                      </a:txBody>
                      <a:tcPr anchor="ctr"/>
                    </a:tc>
                    <a:extLst>
                      <a:ext uri="{0D108BD9-81ED-4DB2-BD59-A6C34878D82A}">
                        <a16:rowId xmlns:a16="http://schemas.microsoft.com/office/drawing/2014/main" val="320228736"/>
                      </a:ext>
                    </a:extLst>
                  </a:tr>
                  <a:tr h="575947">
                    <a:tc>
                      <a:txBody>
                        <a:bodyPr/>
                        <a:lstStyle/>
                        <a:p>
                          <a:pPr algn="ctr">
                            <a:buNone/>
                          </a:pPr>
                          <a:r>
                            <a:rPr lang="en-US" sz="1400" b="1" dirty="0"/>
                            <a:t>Breakdown Voltage</a:t>
                          </a:r>
                          <a:endParaRPr lang="ar-AE" sz="1400" b="1" dirty="0"/>
                        </a:p>
                      </a:txBody>
                      <a:tcPr anchor="ctr"/>
                    </a:tc>
                    <a:tc>
                      <a:txBody>
                        <a:bodyPr/>
                        <a:lstStyle/>
                        <a:p>
                          <a:pPr algn="ctr">
                            <a:buNone/>
                          </a:pPr>
                          <a:r>
                            <a:rPr lang="en-US" sz="1400" dirty="0"/>
                            <a:t>-10 V</a:t>
                          </a:r>
                          <a:endParaRPr lang="en-IN" sz="1400" dirty="0"/>
                        </a:p>
                      </a:txBody>
                      <a:tcPr anchor="ctr"/>
                    </a:tc>
                    <a:tc>
                      <a:txBody>
                        <a:bodyPr/>
                        <a:lstStyle/>
                        <a:p>
                          <a:pPr algn="ctr">
                            <a:buNone/>
                          </a:pPr>
                          <a:r>
                            <a:rPr lang="en-US" sz="1400" dirty="0"/>
                            <a:t>-18 V</a:t>
                          </a:r>
                          <a:endParaRPr lang="en-IN" sz="1400" dirty="0"/>
                        </a:p>
                      </a:txBody>
                      <a:tcPr anchor="ctr"/>
                    </a:tc>
                    <a:extLst>
                      <a:ext uri="{0D108BD9-81ED-4DB2-BD59-A6C34878D82A}">
                        <a16:rowId xmlns:a16="http://schemas.microsoft.com/office/drawing/2014/main" val="3241752837"/>
                      </a:ext>
                    </a:extLst>
                  </a:tr>
                </a:tbl>
              </a:graphicData>
            </a:graphic>
          </p:graphicFrame>
        </mc:Choice>
        <mc:Fallback xmlns="">
          <p:graphicFrame>
            <p:nvGraphicFramePr>
              <p:cNvPr id="5" name="Content Placeholder 4">
                <a:extLst>
                  <a:ext uri="{FF2B5EF4-FFF2-40B4-BE49-F238E27FC236}">
                    <a16:creationId xmlns:a16="http://schemas.microsoft.com/office/drawing/2014/main" id="{FF0B2D54-66F8-8695-5773-89D50AB23A7E}"/>
                  </a:ext>
                </a:extLst>
              </p:cNvPr>
              <p:cNvGraphicFramePr>
                <a:graphicFrameLocks noGrp="1"/>
              </p:cNvGraphicFramePr>
              <p:nvPr>
                <p:ph sz="half" idx="1"/>
                <p:extLst>
                  <p:ext uri="{D42A27DB-BD31-4B8C-83A1-F6EECF244321}">
                    <p14:modId xmlns:p14="http://schemas.microsoft.com/office/powerpoint/2010/main" val="832599121"/>
                  </p:ext>
                </p:extLst>
              </p:nvPr>
            </p:nvGraphicFramePr>
            <p:xfrm>
              <a:off x="838200" y="1928790"/>
              <a:ext cx="4520184" cy="3962528"/>
            </p:xfrm>
            <a:graphic>
              <a:graphicData uri="http://schemas.openxmlformats.org/drawingml/2006/table">
                <a:tbl>
                  <a:tblPr firstRow="1" bandRow="1">
                    <a:tableStyleId>{5C22544A-7EE6-4342-B048-85BDC9FD1C3A}</a:tableStyleId>
                  </a:tblPr>
                  <a:tblGrid>
                    <a:gridCol w="1506728">
                      <a:extLst>
                        <a:ext uri="{9D8B030D-6E8A-4147-A177-3AD203B41FA5}">
                          <a16:colId xmlns:a16="http://schemas.microsoft.com/office/drawing/2014/main" val="3596189152"/>
                        </a:ext>
                      </a:extLst>
                    </a:gridCol>
                    <a:gridCol w="1506728">
                      <a:extLst>
                        <a:ext uri="{9D8B030D-6E8A-4147-A177-3AD203B41FA5}">
                          <a16:colId xmlns:a16="http://schemas.microsoft.com/office/drawing/2014/main" val="3073240022"/>
                        </a:ext>
                      </a:extLst>
                    </a:gridCol>
                    <a:gridCol w="1506728">
                      <a:extLst>
                        <a:ext uri="{9D8B030D-6E8A-4147-A177-3AD203B41FA5}">
                          <a16:colId xmlns:a16="http://schemas.microsoft.com/office/drawing/2014/main" val="3742343845"/>
                        </a:ext>
                      </a:extLst>
                    </a:gridCol>
                  </a:tblGrid>
                  <a:tr h="412197">
                    <a:tc>
                      <a:txBody>
                        <a:bodyPr/>
                        <a:lstStyle/>
                        <a:p>
                          <a:pPr algn="ctr">
                            <a:buNone/>
                          </a:pPr>
                          <a:r>
                            <a:rPr lang="en-IN" sz="1400" b="1" dirty="0"/>
                            <a:t>Quantity</a:t>
                          </a:r>
                        </a:p>
                      </a:txBody>
                      <a:tcPr anchor="ctr"/>
                    </a:tc>
                    <a:tc>
                      <a:txBody>
                        <a:bodyPr/>
                        <a:lstStyle/>
                        <a:p>
                          <a:pPr algn="ctr">
                            <a:buNone/>
                          </a:pPr>
                          <a:r>
                            <a:rPr lang="en-IN" sz="1400" b="1" dirty="0"/>
                            <a:t>Theoretical</a:t>
                          </a:r>
                        </a:p>
                      </a:txBody>
                      <a:tcPr anchor="ctr"/>
                    </a:tc>
                    <a:tc>
                      <a:txBody>
                        <a:bodyPr/>
                        <a:lstStyle/>
                        <a:p>
                          <a:pPr algn="ctr">
                            <a:buNone/>
                          </a:pPr>
                          <a:r>
                            <a:rPr lang="en-IN" sz="1400" b="1" dirty="0"/>
                            <a:t>Simulation</a:t>
                          </a:r>
                        </a:p>
                      </a:txBody>
                      <a:tcPr anchor="ctr"/>
                    </a:tc>
                    <a:extLst>
                      <a:ext uri="{0D108BD9-81ED-4DB2-BD59-A6C34878D82A}">
                        <a16:rowId xmlns:a16="http://schemas.microsoft.com/office/drawing/2014/main" val="2311980996"/>
                      </a:ext>
                    </a:extLst>
                  </a:tr>
                  <a:tr h="575947">
                    <a:tc>
                      <a:txBody>
                        <a:bodyPr/>
                        <a:lstStyle/>
                        <a:p>
                          <a:endParaRPr lang="en-US"/>
                        </a:p>
                      </a:txBody>
                      <a:tcPr anchor="ctr">
                        <a:blipFill>
                          <a:blip r:embed="rId2"/>
                          <a:stretch>
                            <a:fillRect l="-405" t="-73404" r="-202429" b="-525532"/>
                          </a:stretch>
                        </a:blipFill>
                      </a:tcPr>
                    </a:tc>
                    <a:tc>
                      <a:txBody>
                        <a:bodyPr/>
                        <a:lstStyle/>
                        <a:p>
                          <a:pPr algn="ctr">
                            <a:buNone/>
                          </a:pPr>
                          <a:r>
                            <a:rPr lang="en-IN" sz="1400" dirty="0"/>
                            <a:t>0.918 V</a:t>
                          </a:r>
                        </a:p>
                      </a:txBody>
                      <a:tcPr anchor="ctr"/>
                    </a:tc>
                    <a:tc>
                      <a:txBody>
                        <a:bodyPr/>
                        <a:lstStyle/>
                        <a:p>
                          <a:pPr algn="ctr">
                            <a:buNone/>
                          </a:pPr>
                          <a:r>
                            <a:rPr lang="en-IN" sz="1400"/>
                            <a:t>0.85 V</a:t>
                          </a:r>
                        </a:p>
                      </a:txBody>
                      <a:tcPr anchor="ctr"/>
                    </a:tc>
                    <a:extLst>
                      <a:ext uri="{0D108BD9-81ED-4DB2-BD59-A6C34878D82A}">
                        <a16:rowId xmlns:a16="http://schemas.microsoft.com/office/drawing/2014/main" val="807755452"/>
                      </a:ext>
                    </a:extLst>
                  </a:tr>
                  <a:tr h="575947">
                    <a:tc>
                      <a:txBody>
                        <a:bodyPr/>
                        <a:lstStyle/>
                        <a:p>
                          <a:endParaRPr lang="en-US"/>
                        </a:p>
                      </a:txBody>
                      <a:tcPr anchor="ctr">
                        <a:blipFill>
                          <a:blip r:embed="rId2"/>
                          <a:stretch>
                            <a:fillRect l="-405" t="-171579" r="-202429" b="-420000"/>
                          </a:stretch>
                        </a:blipFill>
                      </a:tcPr>
                    </a:tc>
                    <a:tc>
                      <a:txBody>
                        <a:bodyPr/>
                        <a:lstStyle/>
                        <a:p>
                          <a:pPr algn="ctr">
                            <a:buNone/>
                          </a:pPr>
                          <a:r>
                            <a:rPr lang="en-IN" sz="1400" dirty="0"/>
                            <a:t>0.069 µm</a:t>
                          </a:r>
                        </a:p>
                      </a:txBody>
                      <a:tcPr anchor="ctr"/>
                    </a:tc>
                    <a:tc>
                      <a:txBody>
                        <a:bodyPr/>
                        <a:lstStyle/>
                        <a:p>
                          <a:pPr algn="ctr">
                            <a:buNone/>
                          </a:pPr>
                          <a:r>
                            <a:rPr lang="en-IN" sz="1400" dirty="0"/>
                            <a:t>0.067 µm</a:t>
                          </a:r>
                        </a:p>
                      </a:txBody>
                      <a:tcPr anchor="ctr"/>
                    </a:tc>
                    <a:extLst>
                      <a:ext uri="{0D108BD9-81ED-4DB2-BD59-A6C34878D82A}">
                        <a16:rowId xmlns:a16="http://schemas.microsoft.com/office/drawing/2014/main" val="3913448072"/>
                      </a:ext>
                    </a:extLst>
                  </a:tr>
                  <a:tr h="597192">
                    <a:tc>
                      <a:txBody>
                        <a:bodyPr/>
                        <a:lstStyle/>
                        <a:p>
                          <a:endParaRPr lang="en-US"/>
                        </a:p>
                      </a:txBody>
                      <a:tcPr anchor="ctr">
                        <a:blipFill>
                          <a:blip r:embed="rId2"/>
                          <a:stretch>
                            <a:fillRect l="-405" t="-263265" r="-202429" b="-307143"/>
                          </a:stretch>
                        </a:blipFill>
                      </a:tcPr>
                    </a:tc>
                    <a:tc>
                      <a:txBody>
                        <a:bodyPr/>
                        <a:lstStyle/>
                        <a:p>
                          <a:pPr algn="ctr">
                            <a:buNone/>
                          </a:pPr>
                          <a:r>
                            <a:rPr lang="en-IN" sz="1400"/>
                            <a:t>0.0345 µm</a:t>
                          </a:r>
                        </a:p>
                      </a:txBody>
                      <a:tcPr anchor="ctr"/>
                    </a:tc>
                    <a:tc>
                      <a:txBody>
                        <a:bodyPr/>
                        <a:lstStyle/>
                        <a:p>
                          <a:pPr algn="ctr">
                            <a:buNone/>
                          </a:pPr>
                          <a:r>
                            <a:rPr lang="en-IN" sz="1400"/>
                            <a:t>0.033 µm</a:t>
                          </a:r>
                        </a:p>
                      </a:txBody>
                      <a:tcPr anchor="ctr"/>
                    </a:tc>
                    <a:extLst>
                      <a:ext uri="{0D108BD9-81ED-4DB2-BD59-A6C34878D82A}">
                        <a16:rowId xmlns:a16="http://schemas.microsoft.com/office/drawing/2014/main" val="3361494004"/>
                      </a:ext>
                    </a:extLst>
                  </a:tr>
                  <a:tr h="813101">
                    <a:tc>
                      <a:txBody>
                        <a:bodyPr/>
                        <a:lstStyle/>
                        <a:p>
                          <a:endParaRPr lang="en-US"/>
                        </a:p>
                      </a:txBody>
                      <a:tcPr anchor="ctr">
                        <a:blipFill>
                          <a:blip r:embed="rId2"/>
                          <a:stretch>
                            <a:fillRect l="-405" t="-265672" r="-202429" b="-124627"/>
                          </a:stretch>
                        </a:blipFill>
                      </a:tcPr>
                    </a:tc>
                    <a:tc>
                      <a:txBody>
                        <a:bodyPr/>
                        <a:lstStyle/>
                        <a:p>
                          <a:endParaRPr lang="en-US"/>
                        </a:p>
                      </a:txBody>
                      <a:tcPr anchor="ctr">
                        <a:blipFill>
                          <a:blip r:embed="rId2"/>
                          <a:stretch>
                            <a:fillRect l="-100000" t="-265672" r="-101613" b="-124627"/>
                          </a:stretch>
                        </a:blipFill>
                      </a:tcPr>
                    </a:tc>
                    <a:tc>
                      <a:txBody>
                        <a:bodyPr/>
                        <a:lstStyle/>
                        <a:p>
                          <a:endParaRPr lang="en-US"/>
                        </a:p>
                      </a:txBody>
                      <a:tcPr anchor="ctr">
                        <a:blipFill>
                          <a:blip r:embed="rId2"/>
                          <a:stretch>
                            <a:fillRect l="-200810" t="-265672" r="-2024" b="-124627"/>
                          </a:stretch>
                        </a:blipFill>
                      </a:tcPr>
                    </a:tc>
                    <a:extLst>
                      <a:ext uri="{0D108BD9-81ED-4DB2-BD59-A6C34878D82A}">
                        <a16:rowId xmlns:a16="http://schemas.microsoft.com/office/drawing/2014/main" val="2465556777"/>
                      </a:ext>
                    </a:extLst>
                  </a:tr>
                  <a:tr h="412197">
                    <a:tc>
                      <a:txBody>
                        <a:bodyPr/>
                        <a:lstStyle/>
                        <a:p>
                          <a:endParaRPr lang="en-US"/>
                        </a:p>
                      </a:txBody>
                      <a:tcPr anchor="ctr">
                        <a:blipFill>
                          <a:blip r:embed="rId2"/>
                          <a:stretch>
                            <a:fillRect l="-405" t="-731343" r="-202429" b="-149254"/>
                          </a:stretch>
                        </a:blipFill>
                      </a:tcPr>
                    </a:tc>
                    <a:tc>
                      <a:txBody>
                        <a:bodyPr/>
                        <a:lstStyle/>
                        <a:p>
                          <a:pPr algn="ctr">
                            <a:buNone/>
                          </a:pPr>
                          <a:r>
                            <a:rPr lang="en-IN" sz="1400" dirty="0"/>
                            <a:t>1.12 eV</a:t>
                          </a:r>
                        </a:p>
                      </a:txBody>
                      <a:tcPr anchor="ctr"/>
                    </a:tc>
                    <a:tc>
                      <a:txBody>
                        <a:bodyPr/>
                        <a:lstStyle/>
                        <a:p>
                          <a:pPr algn="ctr">
                            <a:buNone/>
                          </a:pPr>
                          <a:r>
                            <a:rPr lang="en-IN" sz="1400" dirty="0"/>
                            <a:t>1.10 eV</a:t>
                          </a:r>
                        </a:p>
                      </a:txBody>
                      <a:tcPr anchor="ctr"/>
                    </a:tc>
                    <a:extLst>
                      <a:ext uri="{0D108BD9-81ED-4DB2-BD59-A6C34878D82A}">
                        <a16:rowId xmlns:a16="http://schemas.microsoft.com/office/drawing/2014/main" val="320228736"/>
                      </a:ext>
                    </a:extLst>
                  </a:tr>
                  <a:tr h="575947">
                    <a:tc>
                      <a:txBody>
                        <a:bodyPr/>
                        <a:lstStyle/>
                        <a:p>
                          <a:pPr algn="ctr">
                            <a:buNone/>
                          </a:pPr>
                          <a:r>
                            <a:rPr lang="en-US" sz="1400" b="1" dirty="0"/>
                            <a:t>Breakdown Voltage</a:t>
                          </a:r>
                          <a:endParaRPr lang="ar-AE" sz="1400" b="1" dirty="0"/>
                        </a:p>
                      </a:txBody>
                      <a:tcPr anchor="ctr"/>
                    </a:tc>
                    <a:tc>
                      <a:txBody>
                        <a:bodyPr/>
                        <a:lstStyle/>
                        <a:p>
                          <a:pPr algn="ctr">
                            <a:buNone/>
                          </a:pPr>
                          <a:r>
                            <a:rPr lang="en-US" sz="1400" dirty="0"/>
                            <a:t>-10 V</a:t>
                          </a:r>
                          <a:endParaRPr lang="en-IN" sz="1400" dirty="0"/>
                        </a:p>
                      </a:txBody>
                      <a:tcPr anchor="ctr"/>
                    </a:tc>
                    <a:tc>
                      <a:txBody>
                        <a:bodyPr/>
                        <a:lstStyle/>
                        <a:p>
                          <a:pPr algn="ctr">
                            <a:buNone/>
                          </a:pPr>
                          <a:r>
                            <a:rPr lang="en-US" sz="1400" dirty="0"/>
                            <a:t>-18 V</a:t>
                          </a:r>
                          <a:endParaRPr lang="en-IN" sz="1400" dirty="0"/>
                        </a:p>
                      </a:txBody>
                      <a:tcPr anchor="ctr"/>
                    </a:tc>
                    <a:extLst>
                      <a:ext uri="{0D108BD9-81ED-4DB2-BD59-A6C34878D82A}">
                        <a16:rowId xmlns:a16="http://schemas.microsoft.com/office/drawing/2014/main" val="324175283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Content Placeholder 5">
                <a:extLst>
                  <a:ext uri="{FF2B5EF4-FFF2-40B4-BE49-F238E27FC236}">
                    <a16:creationId xmlns:a16="http://schemas.microsoft.com/office/drawing/2014/main" id="{7CA6ED12-77C3-B8AC-7ABA-A8978FACB911}"/>
                  </a:ext>
                </a:extLst>
              </p:cNvPr>
              <p:cNvGraphicFramePr>
                <a:graphicFrameLocks noGrp="1"/>
              </p:cNvGraphicFramePr>
              <p:nvPr>
                <p:ph sz="half" idx="2"/>
                <p:extLst>
                  <p:ext uri="{D42A27DB-BD31-4B8C-83A1-F6EECF244321}">
                    <p14:modId xmlns:p14="http://schemas.microsoft.com/office/powerpoint/2010/main" val="512761586"/>
                  </p:ext>
                </p:extLst>
              </p:nvPr>
            </p:nvGraphicFramePr>
            <p:xfrm>
              <a:off x="6007608" y="1912042"/>
              <a:ext cx="5071872" cy="3996023"/>
            </p:xfrm>
            <a:graphic>
              <a:graphicData uri="http://schemas.openxmlformats.org/drawingml/2006/table">
                <a:tbl>
                  <a:tblPr firstRow="1" bandRow="1">
                    <a:tableStyleId>{5C22544A-7EE6-4342-B048-85BDC9FD1C3A}</a:tableStyleId>
                  </a:tblPr>
                  <a:tblGrid>
                    <a:gridCol w="1267968">
                      <a:extLst>
                        <a:ext uri="{9D8B030D-6E8A-4147-A177-3AD203B41FA5}">
                          <a16:colId xmlns:a16="http://schemas.microsoft.com/office/drawing/2014/main" val="284485928"/>
                        </a:ext>
                      </a:extLst>
                    </a:gridCol>
                    <a:gridCol w="1267968">
                      <a:extLst>
                        <a:ext uri="{9D8B030D-6E8A-4147-A177-3AD203B41FA5}">
                          <a16:colId xmlns:a16="http://schemas.microsoft.com/office/drawing/2014/main" val="2058686409"/>
                        </a:ext>
                      </a:extLst>
                    </a:gridCol>
                    <a:gridCol w="1267968">
                      <a:extLst>
                        <a:ext uri="{9D8B030D-6E8A-4147-A177-3AD203B41FA5}">
                          <a16:colId xmlns:a16="http://schemas.microsoft.com/office/drawing/2014/main" val="504492843"/>
                        </a:ext>
                      </a:extLst>
                    </a:gridCol>
                    <a:gridCol w="1267968">
                      <a:extLst>
                        <a:ext uri="{9D8B030D-6E8A-4147-A177-3AD203B41FA5}">
                          <a16:colId xmlns:a16="http://schemas.microsoft.com/office/drawing/2014/main" val="3944622401"/>
                        </a:ext>
                      </a:extLst>
                    </a:gridCol>
                  </a:tblGrid>
                  <a:tr h="610565">
                    <a:tc>
                      <a:txBody>
                        <a:bodyPr/>
                        <a:lstStyle/>
                        <a:p>
                          <a:pPr>
                            <a:buNone/>
                          </a:pPr>
                          <a:r>
                            <a:rPr lang="en-IN" sz="1200" dirty="0"/>
                            <a:t>Quantity</a:t>
                          </a:r>
                        </a:p>
                        <a:p>
                          <a:pPr>
                            <a:buNone/>
                          </a:pPr>
                          <a:r>
                            <a:rPr lang="en-IN" sz="1200" dirty="0"/>
                            <a:t>Concentrations</a:t>
                          </a:r>
                        </a:p>
                      </a:txBody>
                      <a:tcPr anchor="ctr"/>
                    </a:tc>
                    <a:tc>
                      <a:txBody>
                        <a:bodyPr/>
                        <a:lstStyle/>
                        <a:p>
                          <a:pPr>
                            <a:buNone/>
                          </a:pPr>
                          <a:r>
                            <a:rPr lang="en-IN" sz="1200"/>
                            <a:t>Simulation (5×10¹⁷ cm⁻³)</a:t>
                          </a:r>
                        </a:p>
                      </a:txBody>
                      <a:tcPr anchor="ctr"/>
                    </a:tc>
                    <a:tc>
                      <a:txBody>
                        <a:bodyPr/>
                        <a:lstStyle/>
                        <a:p>
                          <a:pPr>
                            <a:buNone/>
                          </a:pPr>
                          <a:r>
                            <a:rPr lang="en-IN" sz="1200"/>
                            <a:t>Simulation (5×10¹⁶ cm⁻³)</a:t>
                          </a:r>
                        </a:p>
                      </a:txBody>
                      <a:tcPr anchor="ctr"/>
                    </a:tc>
                    <a:tc>
                      <a:txBody>
                        <a:bodyPr/>
                        <a:lstStyle/>
                        <a:p>
                          <a:pPr>
                            <a:buNone/>
                          </a:pPr>
                          <a:r>
                            <a:rPr lang="en-IN" sz="1200"/>
                            <a:t>Simulation (5×10¹⁹ cm⁻³)</a:t>
                          </a:r>
                        </a:p>
                      </a:txBody>
                      <a:tcPr anchor="ctr"/>
                    </a:tc>
                    <a:extLst>
                      <a:ext uri="{0D108BD9-81ED-4DB2-BD59-A6C34878D82A}">
                        <a16:rowId xmlns:a16="http://schemas.microsoft.com/office/drawing/2014/main" val="1489295556"/>
                      </a:ext>
                    </a:extLst>
                  </a:tr>
                  <a:tr h="443244">
                    <a:tc>
                      <a:txBody>
                        <a:bodyPr/>
                        <a:lstStyle/>
                        <a:p>
                          <a:pPr>
                            <a:buNone/>
                          </a:pPr>
                          <a:r>
                            <a:rPr lang="en-IN" sz="1200" b="1" dirty="0"/>
                            <a:t>Built-in Voltage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𝑉</m:t>
                                  </m:r>
                                </m:e>
                                <m:sub>
                                  <m:r>
                                    <a:rPr lang="ar-AE" sz="1200" i="1">
                                      <a:latin typeface="Cambria Math" panose="02040503050406030204" pitchFamily="18" charset="0"/>
                                    </a:rPr>
                                    <m:t>𝑏𝑖</m:t>
                                  </m:r>
                                </m:sub>
                              </m:sSub>
                            </m:oMath>
                          </a14:m>
                          <a:endParaRPr lang="ar-AE" sz="1200" dirty="0"/>
                        </a:p>
                      </a:txBody>
                      <a:tcPr anchor="ctr"/>
                    </a:tc>
                    <a:tc>
                      <a:txBody>
                        <a:bodyPr/>
                        <a:lstStyle/>
                        <a:p>
                          <a:pPr>
                            <a:buNone/>
                          </a:pPr>
                          <a:r>
                            <a:rPr lang="en-IN" sz="1200" b="0"/>
                            <a:t>0.85 V</a:t>
                          </a:r>
                        </a:p>
                      </a:txBody>
                      <a:tcPr anchor="ctr"/>
                    </a:tc>
                    <a:tc>
                      <a:txBody>
                        <a:bodyPr/>
                        <a:lstStyle/>
                        <a:p>
                          <a:pPr>
                            <a:buNone/>
                          </a:pPr>
                          <a:r>
                            <a:rPr lang="en-US" sz="1200" b="0" dirty="0"/>
                            <a:t>0</a:t>
                          </a:r>
                          <a:r>
                            <a:rPr lang="en-IN" sz="1200" b="0" dirty="0"/>
                            <a:t>.75 V</a:t>
                          </a:r>
                        </a:p>
                      </a:txBody>
                      <a:tcPr anchor="ctr"/>
                    </a:tc>
                    <a:tc>
                      <a:txBody>
                        <a:bodyPr/>
                        <a:lstStyle/>
                        <a:p>
                          <a:pPr>
                            <a:buNone/>
                          </a:pPr>
                          <a:r>
                            <a:rPr lang="en-US" sz="1200" b="0" dirty="0"/>
                            <a:t>1</a:t>
                          </a:r>
                          <a:r>
                            <a:rPr lang="en-IN" sz="1200" b="0" dirty="0"/>
                            <a:t>.05 V</a:t>
                          </a:r>
                        </a:p>
                      </a:txBody>
                      <a:tcPr anchor="ctr"/>
                    </a:tc>
                    <a:extLst>
                      <a:ext uri="{0D108BD9-81ED-4DB2-BD59-A6C34878D82A}">
                        <a16:rowId xmlns:a16="http://schemas.microsoft.com/office/drawing/2014/main" val="108417068"/>
                      </a:ext>
                    </a:extLst>
                  </a:tr>
                  <a:tr h="610565">
                    <a:tc>
                      <a:txBody>
                        <a:bodyPr/>
                        <a:lstStyle/>
                        <a:p>
                          <a:pPr>
                            <a:buNone/>
                          </a:pPr>
                          <a:r>
                            <a:rPr lang="en-IN" sz="1200" b="1"/>
                            <a:t>Total Depletion Width </a:t>
                          </a:r>
                          <a14:m>
                            <m:oMath xmlns:m="http://schemas.openxmlformats.org/officeDocument/2006/math">
                              <m:r>
                                <a:rPr lang="en-IN" sz="1200" i="1">
                                  <a:latin typeface="Cambria Math" panose="02040503050406030204" pitchFamily="18" charset="0"/>
                                </a:rPr>
                                <m:t>𝑊</m:t>
                              </m:r>
                            </m:oMath>
                          </a14:m>
                          <a:endParaRPr lang="en-IN" sz="1200"/>
                        </a:p>
                      </a:txBody>
                      <a:tcPr anchor="ctr"/>
                    </a:tc>
                    <a:tc>
                      <a:txBody>
                        <a:bodyPr/>
                        <a:lstStyle/>
                        <a:p>
                          <a:pPr>
                            <a:buNone/>
                          </a:pPr>
                          <a:r>
                            <a:rPr lang="en-IN" sz="1200" b="0"/>
                            <a:t>0.067 µm</a:t>
                          </a:r>
                        </a:p>
                      </a:txBody>
                      <a:tcPr anchor="ctr"/>
                    </a:tc>
                    <a:tc>
                      <a:txBody>
                        <a:bodyPr/>
                        <a:lstStyle/>
                        <a:p>
                          <a:pPr>
                            <a:buNone/>
                          </a:pPr>
                          <a:r>
                            <a:rPr lang="en-IN" sz="1200" b="0"/>
                            <a:t>0.193 µm</a:t>
                          </a:r>
                        </a:p>
                      </a:txBody>
                      <a:tcPr anchor="ctr"/>
                    </a:tc>
                    <a:tc>
                      <a:txBody>
                        <a:bodyPr/>
                        <a:lstStyle/>
                        <a:p>
                          <a:pPr>
                            <a:buNone/>
                          </a:pPr>
                          <a:r>
                            <a:rPr lang="en-IN" sz="1200" b="0"/>
                            <a:t>0.0084 µm</a:t>
                          </a:r>
                        </a:p>
                      </a:txBody>
                      <a:tcPr anchor="ctr"/>
                    </a:tc>
                    <a:extLst>
                      <a:ext uri="{0D108BD9-81ED-4DB2-BD59-A6C34878D82A}">
                        <a16:rowId xmlns:a16="http://schemas.microsoft.com/office/drawing/2014/main" val="676430571"/>
                      </a:ext>
                    </a:extLst>
                  </a:tr>
                  <a:tr h="624727">
                    <a:tc>
                      <a:txBody>
                        <a:bodyPr/>
                        <a:lstStyle/>
                        <a:p>
                          <a:pPr>
                            <a:buNone/>
                          </a:pPr>
                          <a:r>
                            <a:rPr lang="en-IN" sz="1200" b="1"/>
                            <a:t>Depletion Width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𝑥</m:t>
                                  </m:r>
                                </m:e>
                                <m:sub>
                                  <m:r>
                                    <a:rPr lang="ar-AE" sz="1200" i="1">
                                      <a:latin typeface="Cambria Math" panose="02040503050406030204" pitchFamily="18" charset="0"/>
                                    </a:rPr>
                                    <m:t>𝑛</m:t>
                                  </m:r>
                                </m:sub>
                              </m:sSub>
                              <m:r>
                                <a:rPr lang="ar-AE" sz="1200" i="0">
                                  <a:latin typeface="Cambria Math" panose="02040503050406030204" pitchFamily="18" charset="0"/>
                                </a:rPr>
                                <m:t>=</m:t>
                              </m:r>
                              <m:sSub>
                                <m:sSubPr>
                                  <m:ctrlPr>
                                    <a:rPr lang="ar-AE" sz="1200" i="1">
                                      <a:latin typeface="Cambria Math" panose="02040503050406030204" pitchFamily="18" charset="0"/>
                                    </a:rPr>
                                  </m:ctrlPr>
                                </m:sSubPr>
                                <m:e>
                                  <m:r>
                                    <a:rPr lang="ar-AE" sz="1200" i="1">
                                      <a:latin typeface="Cambria Math" panose="02040503050406030204" pitchFamily="18" charset="0"/>
                                    </a:rPr>
                                    <m:t>𝑥</m:t>
                                  </m:r>
                                </m:e>
                                <m:sub>
                                  <m:r>
                                    <a:rPr lang="ar-AE" sz="1200" i="1">
                                      <a:latin typeface="Cambria Math" panose="02040503050406030204" pitchFamily="18" charset="0"/>
                                    </a:rPr>
                                    <m:t>𝑝</m:t>
                                  </m:r>
                                </m:sub>
                              </m:sSub>
                            </m:oMath>
                          </a14:m>
                          <a:endParaRPr lang="ar-AE" sz="1200"/>
                        </a:p>
                      </a:txBody>
                      <a:tcPr anchor="ctr"/>
                    </a:tc>
                    <a:tc>
                      <a:txBody>
                        <a:bodyPr/>
                        <a:lstStyle/>
                        <a:p>
                          <a:pPr>
                            <a:buNone/>
                          </a:pPr>
                          <a:r>
                            <a:rPr lang="en-IN" sz="1200" b="0"/>
                            <a:t>0.033 µm</a:t>
                          </a:r>
                        </a:p>
                      </a:txBody>
                      <a:tcPr anchor="ctr"/>
                    </a:tc>
                    <a:tc>
                      <a:txBody>
                        <a:bodyPr/>
                        <a:lstStyle/>
                        <a:p>
                          <a:pPr>
                            <a:buNone/>
                          </a:pPr>
                          <a:r>
                            <a:rPr lang="en-IN" sz="1200" b="0" dirty="0"/>
                            <a:t>0.0965 µm</a:t>
                          </a:r>
                        </a:p>
                      </a:txBody>
                      <a:tcPr anchor="ctr"/>
                    </a:tc>
                    <a:tc>
                      <a:txBody>
                        <a:bodyPr/>
                        <a:lstStyle/>
                        <a:p>
                          <a:pPr>
                            <a:buNone/>
                          </a:pPr>
                          <a:r>
                            <a:rPr lang="en-IN" sz="1200" b="0"/>
                            <a:t>0.0042 µm</a:t>
                          </a:r>
                        </a:p>
                      </a:txBody>
                      <a:tcPr anchor="ctr"/>
                    </a:tc>
                    <a:extLst>
                      <a:ext uri="{0D108BD9-81ED-4DB2-BD59-A6C34878D82A}">
                        <a16:rowId xmlns:a16="http://schemas.microsoft.com/office/drawing/2014/main" val="3058859922"/>
                      </a:ext>
                    </a:extLst>
                  </a:tr>
                  <a:tr h="620541">
                    <a:tc>
                      <a:txBody>
                        <a:bodyPr/>
                        <a:lstStyle/>
                        <a:p>
                          <a:pPr>
                            <a:buNone/>
                          </a:pPr>
                          <a:r>
                            <a:rPr lang="en-IN" sz="1200" b="1"/>
                            <a:t>Maximum Electric Field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𝐸</m:t>
                                  </m:r>
                                </m:e>
                                <m:sub>
                                  <m:r>
                                    <a:rPr lang="ar-AE" sz="1200" i="1">
                                      <a:latin typeface="Cambria Math" panose="02040503050406030204" pitchFamily="18" charset="0"/>
                                    </a:rPr>
                                    <m:t>𝑚𝑎𝑥</m:t>
                                  </m:r>
                                </m:sub>
                              </m:sSub>
                            </m:oMath>
                          </a14:m>
                          <a:endParaRPr lang="ar-AE" sz="1200"/>
                        </a:p>
                      </a:txBody>
                      <a:tcPr anchor="ctr"/>
                    </a:tc>
                    <a:tc>
                      <a:txBody>
                        <a:bodyPr/>
                        <a:lstStyle/>
                        <a:p>
                          <a:pPr>
                            <a:buNone/>
                          </a:pPr>
                          <a14:m>
                            <m:oMath xmlns:m="http://schemas.openxmlformats.org/officeDocument/2006/math">
                              <m:r>
                                <a:rPr lang="ar-AE" sz="1200" b="0" smtClean="0">
                                  <a:latin typeface="Cambria Math" panose="02040503050406030204" pitchFamily="18" charset="0"/>
                                </a:rPr>
                                <m:t>2</m:t>
                              </m:r>
                              <m:r>
                                <a:rPr lang="ar-AE" sz="1200" b="0" smtClean="0">
                                  <a:latin typeface="Cambria Math" panose="02040503050406030204" pitchFamily="18" charset="0"/>
                                </a:rPr>
                                <m:t>.</m:t>
                              </m:r>
                              <m:r>
                                <a:rPr lang="ar-AE" sz="1200" b="0" smtClean="0">
                                  <a:latin typeface="Cambria Math" panose="02040503050406030204" pitchFamily="18" charset="0"/>
                                </a:rPr>
                                <m:t>179</m:t>
                              </m:r>
                              <m:r>
                                <a:rPr lang="ar-AE" sz="1200" b="0" i="0" smtClean="0">
                                  <a:latin typeface="Cambria Math" panose="02040503050406030204" pitchFamily="18" charset="0"/>
                                </a:rPr>
                                <m:t>×</m:t>
                              </m:r>
                              <m:sSup>
                                <m:sSupPr>
                                  <m:ctrlPr>
                                    <a:rPr lang="ar-AE" sz="1200" b="0" i="1">
                                      <a:latin typeface="Cambria Math" panose="02040503050406030204" pitchFamily="18" charset="0"/>
                                    </a:rPr>
                                  </m:ctrlPr>
                                </m:sSupPr>
                                <m:e>
                                  <m:r>
                                    <a:rPr lang="ar-AE" sz="1200" b="0" i="0" smtClean="0">
                                      <a:latin typeface="Cambria Math" panose="02040503050406030204" pitchFamily="18" charset="0"/>
                                    </a:rPr>
                                    <m:t>10</m:t>
                                  </m:r>
                                </m:e>
                                <m:sup>
                                  <m:r>
                                    <a:rPr lang="ar-AE" sz="1200" b="0" i="0" smtClean="0">
                                      <a:latin typeface="Cambria Math" panose="02040503050406030204" pitchFamily="18" charset="0"/>
                                    </a:rPr>
                                    <m:t>5</m:t>
                                  </m:r>
                                </m:sup>
                              </m:sSup>
                            </m:oMath>
                          </a14:m>
                          <a:r>
                            <a:rPr lang="en-IN" sz="1200" b="0" dirty="0"/>
                            <a:t>V/cm</a:t>
                          </a:r>
                        </a:p>
                      </a:txBody>
                      <a:tcPr anchor="ctr"/>
                    </a:tc>
                    <a:tc>
                      <a:txBody>
                        <a:bodyPr/>
                        <a:lstStyle/>
                        <a:p>
                          <a:pPr>
                            <a:buNone/>
                          </a:pPr>
                          <a14:m>
                            <m:oMath xmlns:m="http://schemas.openxmlformats.org/officeDocument/2006/math">
                              <m:r>
                                <a:rPr lang="ar-AE" sz="1200" b="0" smtClean="0">
                                  <a:latin typeface="Cambria Math" panose="02040503050406030204" pitchFamily="18" charset="0"/>
                                </a:rPr>
                                <m:t>7</m:t>
                              </m:r>
                              <m:r>
                                <a:rPr lang="ar-AE" sz="1200" b="0" smtClean="0">
                                  <a:latin typeface="Cambria Math" panose="02040503050406030204" pitchFamily="18" charset="0"/>
                                </a:rPr>
                                <m:t>.</m:t>
                              </m:r>
                              <m:r>
                                <a:rPr lang="ar-AE" sz="1200" b="0" smtClean="0">
                                  <a:latin typeface="Cambria Math" panose="02040503050406030204" pitchFamily="18" charset="0"/>
                                </a:rPr>
                                <m:t>91</m:t>
                              </m:r>
                              <m:r>
                                <a:rPr lang="ar-AE" sz="1200" b="0" i="0" smtClean="0">
                                  <a:latin typeface="Cambria Math" panose="02040503050406030204" pitchFamily="18" charset="0"/>
                                </a:rPr>
                                <m:t>×</m:t>
                              </m:r>
                              <m:sSup>
                                <m:sSupPr>
                                  <m:ctrlPr>
                                    <a:rPr lang="ar-AE" sz="1200" b="0" i="1">
                                      <a:latin typeface="Cambria Math" panose="02040503050406030204" pitchFamily="18" charset="0"/>
                                    </a:rPr>
                                  </m:ctrlPr>
                                </m:sSupPr>
                                <m:e>
                                  <m:r>
                                    <a:rPr lang="ar-AE" sz="1200" b="0" i="0" smtClean="0">
                                      <a:latin typeface="Cambria Math" panose="02040503050406030204" pitchFamily="18" charset="0"/>
                                    </a:rPr>
                                    <m:t>10</m:t>
                                  </m:r>
                                </m:e>
                                <m:sup>
                                  <m:r>
                                    <a:rPr lang="ar-AE" sz="1200" b="0" i="0" smtClean="0">
                                      <a:latin typeface="Cambria Math" panose="02040503050406030204" pitchFamily="18" charset="0"/>
                                    </a:rPr>
                                    <m:t>4</m:t>
                                  </m:r>
                                </m:sup>
                              </m:sSup>
                            </m:oMath>
                          </a14:m>
                          <a:r>
                            <a:rPr lang="en-IN" sz="1200" b="0" dirty="0"/>
                            <a:t>V/cm</a:t>
                          </a:r>
                        </a:p>
                      </a:txBody>
                      <a:tcPr anchor="ctr"/>
                    </a:tc>
                    <a:tc>
                      <a:txBody>
                        <a:bodyPr/>
                        <a:lstStyle/>
                        <a:p>
                          <a:pPr>
                            <a:buNone/>
                          </a:pPr>
                          <a14:m>
                            <m:oMath xmlns:m="http://schemas.openxmlformats.org/officeDocument/2006/math">
                              <m:r>
                                <a:rPr lang="ar-AE" sz="1200" b="0" smtClean="0">
                                  <a:latin typeface="Cambria Math" panose="02040503050406030204" pitchFamily="18" charset="0"/>
                                </a:rPr>
                                <m:t>5</m:t>
                              </m:r>
                              <m:r>
                                <a:rPr lang="ar-AE" sz="1200" b="0" smtClean="0">
                                  <a:latin typeface="Cambria Math" panose="02040503050406030204" pitchFamily="18" charset="0"/>
                                </a:rPr>
                                <m:t>.</m:t>
                              </m:r>
                              <m:r>
                                <a:rPr lang="ar-AE" sz="1200" b="0" smtClean="0">
                                  <a:latin typeface="Cambria Math" panose="02040503050406030204" pitchFamily="18" charset="0"/>
                                </a:rPr>
                                <m:t>607</m:t>
                              </m:r>
                              <m:r>
                                <a:rPr lang="ar-AE" sz="1200" b="0" i="0" smtClean="0">
                                  <a:latin typeface="Cambria Math" panose="02040503050406030204" pitchFamily="18" charset="0"/>
                                </a:rPr>
                                <m:t>×</m:t>
                              </m:r>
                              <m:sSup>
                                <m:sSupPr>
                                  <m:ctrlPr>
                                    <a:rPr lang="ar-AE" sz="1200" b="0" i="1">
                                      <a:latin typeface="Cambria Math" panose="02040503050406030204" pitchFamily="18" charset="0"/>
                                    </a:rPr>
                                  </m:ctrlPr>
                                </m:sSupPr>
                                <m:e>
                                  <m:r>
                                    <a:rPr lang="ar-AE" sz="1200" b="0" i="0" smtClean="0">
                                      <a:latin typeface="Cambria Math" panose="02040503050406030204" pitchFamily="18" charset="0"/>
                                    </a:rPr>
                                    <m:t>10</m:t>
                                  </m:r>
                                </m:e>
                                <m:sup>
                                  <m:r>
                                    <a:rPr lang="ar-AE" sz="1200" b="0" i="0" smtClean="0">
                                      <a:latin typeface="Cambria Math" panose="02040503050406030204" pitchFamily="18" charset="0"/>
                                    </a:rPr>
                                    <m:t>5</m:t>
                                  </m:r>
                                </m:sup>
                              </m:sSup>
                            </m:oMath>
                          </a14:m>
                          <a:r>
                            <a:rPr lang="en-IN" sz="1200" b="0" dirty="0"/>
                            <a:t>V/cm</a:t>
                          </a:r>
                        </a:p>
                      </a:txBody>
                      <a:tcPr anchor="ctr"/>
                    </a:tc>
                    <a:extLst>
                      <a:ext uri="{0D108BD9-81ED-4DB2-BD59-A6C34878D82A}">
                        <a16:rowId xmlns:a16="http://schemas.microsoft.com/office/drawing/2014/main" val="1848666517"/>
                      </a:ext>
                    </a:extLst>
                  </a:tr>
                  <a:tr h="442321">
                    <a:tc>
                      <a:txBody>
                        <a:bodyPr/>
                        <a:lstStyle/>
                        <a:p>
                          <a:pPr>
                            <a:buNone/>
                          </a:pPr>
                          <a:r>
                            <a:rPr lang="en-IN" sz="1200" b="1"/>
                            <a:t>Band Gap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𝐸</m:t>
                                  </m:r>
                                </m:e>
                                <m:sub>
                                  <m:r>
                                    <a:rPr lang="ar-AE" sz="1200" i="1">
                                      <a:latin typeface="Cambria Math" panose="02040503050406030204" pitchFamily="18" charset="0"/>
                                    </a:rPr>
                                    <m:t>𝑔</m:t>
                                  </m:r>
                                </m:sub>
                              </m:sSub>
                            </m:oMath>
                          </a14:m>
                          <a:endParaRPr lang="ar-AE" sz="1200"/>
                        </a:p>
                      </a:txBody>
                      <a:tcPr anchor="ctr"/>
                    </a:tc>
                    <a:tc>
                      <a:txBody>
                        <a:bodyPr/>
                        <a:lstStyle/>
                        <a:p>
                          <a:pPr>
                            <a:buNone/>
                          </a:pPr>
                          <a:r>
                            <a:rPr lang="en-IN" sz="1200" b="0"/>
                            <a:t>1.10 eV</a:t>
                          </a:r>
                        </a:p>
                      </a:txBody>
                      <a:tcPr anchor="ctr"/>
                    </a:tc>
                    <a:tc>
                      <a:txBody>
                        <a:bodyPr/>
                        <a:lstStyle/>
                        <a:p>
                          <a:pPr>
                            <a:buNone/>
                          </a:pPr>
                          <a:r>
                            <a:rPr lang="en-US" sz="1200" b="0" dirty="0"/>
                            <a:t>1</a:t>
                          </a:r>
                          <a:r>
                            <a:rPr lang="en-IN" sz="1200" b="0" dirty="0"/>
                            <a:t>.10 eV</a:t>
                          </a:r>
                        </a:p>
                      </a:txBody>
                      <a:tcPr anchor="ctr"/>
                    </a:tc>
                    <a:tc>
                      <a:txBody>
                        <a:bodyPr/>
                        <a:lstStyle/>
                        <a:p>
                          <a:pPr>
                            <a:buNone/>
                          </a:pPr>
                          <a:r>
                            <a:rPr lang="en-US" sz="1200" b="0" dirty="0"/>
                            <a:t>1.10 eV</a:t>
                          </a:r>
                          <a:endParaRPr lang="en-IN" sz="1200" b="0" dirty="0"/>
                        </a:p>
                      </a:txBody>
                      <a:tcPr anchor="ctr"/>
                    </a:tc>
                    <a:extLst>
                      <a:ext uri="{0D108BD9-81ED-4DB2-BD59-A6C34878D82A}">
                        <a16:rowId xmlns:a16="http://schemas.microsoft.com/office/drawing/2014/main" val="2171661366"/>
                      </a:ext>
                    </a:extLst>
                  </a:tr>
                  <a:tr h="610565">
                    <a:tc>
                      <a:txBody>
                        <a:bodyPr/>
                        <a:lstStyle/>
                        <a:p>
                          <a:pPr>
                            <a:buNone/>
                          </a:pPr>
                          <a:r>
                            <a:rPr lang="en-IN" sz="1200" b="1"/>
                            <a:t>Breakdown Voltage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𝑉</m:t>
                                  </m:r>
                                </m:e>
                                <m:sub>
                                  <m:r>
                                    <a:rPr lang="ar-AE" sz="1200" i="1">
                                      <a:latin typeface="Cambria Math" panose="02040503050406030204" pitchFamily="18" charset="0"/>
                                    </a:rPr>
                                    <m:t>𝑏𝑟</m:t>
                                  </m:r>
                                </m:sub>
                              </m:sSub>
                            </m:oMath>
                          </a14:m>
                          <a:endParaRPr lang="ar-AE" sz="1200"/>
                        </a:p>
                      </a:txBody>
                      <a:tcPr anchor="ctr"/>
                    </a:tc>
                    <a:tc>
                      <a:txBody>
                        <a:bodyPr/>
                        <a:lstStyle/>
                        <a:p>
                          <a:pPr>
                            <a:buNone/>
                          </a:pPr>
                          <a:r>
                            <a:rPr lang="en-IN" sz="1200" b="0"/>
                            <a:t>−18 V</a:t>
                          </a:r>
                        </a:p>
                      </a:txBody>
                      <a:tcPr anchor="ctr"/>
                    </a:tc>
                    <a:tc>
                      <a:txBody>
                        <a:bodyPr/>
                        <a:lstStyle/>
                        <a:p>
                          <a:pPr>
                            <a:buNone/>
                          </a:pPr>
                          <a:r>
                            <a:rPr lang="en-IN" sz="1200" b="0"/>
                            <a:t>−53 </a:t>
                          </a:r>
                          <a:r>
                            <a:rPr lang="en-IN" sz="1200" b="0" dirty="0"/>
                            <a:t>V</a:t>
                          </a:r>
                        </a:p>
                      </a:txBody>
                      <a:tcPr anchor="ctr"/>
                    </a:tc>
                    <a:tc>
                      <a:txBody>
                        <a:bodyPr/>
                        <a:lstStyle/>
                        <a:p>
                          <a:pPr>
                            <a:buNone/>
                          </a:pPr>
                          <a:r>
                            <a:rPr lang="en-IN" sz="1200" b="0" dirty="0"/>
                            <a:t>−6 V</a:t>
                          </a:r>
                        </a:p>
                      </a:txBody>
                      <a:tcPr anchor="ctr"/>
                    </a:tc>
                    <a:extLst>
                      <a:ext uri="{0D108BD9-81ED-4DB2-BD59-A6C34878D82A}">
                        <a16:rowId xmlns:a16="http://schemas.microsoft.com/office/drawing/2014/main" val="1904734537"/>
                      </a:ext>
                    </a:extLst>
                  </a:tr>
                </a:tbl>
              </a:graphicData>
            </a:graphic>
          </p:graphicFrame>
        </mc:Choice>
        <mc:Fallback xmlns="">
          <p:graphicFrame>
            <p:nvGraphicFramePr>
              <p:cNvPr id="6" name="Content Placeholder 5">
                <a:extLst>
                  <a:ext uri="{FF2B5EF4-FFF2-40B4-BE49-F238E27FC236}">
                    <a16:creationId xmlns:a16="http://schemas.microsoft.com/office/drawing/2014/main" id="{7CA6ED12-77C3-B8AC-7ABA-A8978FACB911}"/>
                  </a:ext>
                </a:extLst>
              </p:cNvPr>
              <p:cNvGraphicFramePr>
                <a:graphicFrameLocks noGrp="1"/>
              </p:cNvGraphicFramePr>
              <p:nvPr>
                <p:ph sz="half" idx="2"/>
                <p:extLst>
                  <p:ext uri="{D42A27DB-BD31-4B8C-83A1-F6EECF244321}">
                    <p14:modId xmlns:p14="http://schemas.microsoft.com/office/powerpoint/2010/main" val="512761586"/>
                  </p:ext>
                </p:extLst>
              </p:nvPr>
            </p:nvGraphicFramePr>
            <p:xfrm>
              <a:off x="6007608" y="1912042"/>
              <a:ext cx="5071872" cy="3996023"/>
            </p:xfrm>
            <a:graphic>
              <a:graphicData uri="http://schemas.openxmlformats.org/drawingml/2006/table">
                <a:tbl>
                  <a:tblPr firstRow="1" bandRow="1">
                    <a:tableStyleId>{5C22544A-7EE6-4342-B048-85BDC9FD1C3A}</a:tableStyleId>
                  </a:tblPr>
                  <a:tblGrid>
                    <a:gridCol w="1267968">
                      <a:extLst>
                        <a:ext uri="{9D8B030D-6E8A-4147-A177-3AD203B41FA5}">
                          <a16:colId xmlns:a16="http://schemas.microsoft.com/office/drawing/2014/main" val="284485928"/>
                        </a:ext>
                      </a:extLst>
                    </a:gridCol>
                    <a:gridCol w="1267968">
                      <a:extLst>
                        <a:ext uri="{9D8B030D-6E8A-4147-A177-3AD203B41FA5}">
                          <a16:colId xmlns:a16="http://schemas.microsoft.com/office/drawing/2014/main" val="2058686409"/>
                        </a:ext>
                      </a:extLst>
                    </a:gridCol>
                    <a:gridCol w="1267968">
                      <a:extLst>
                        <a:ext uri="{9D8B030D-6E8A-4147-A177-3AD203B41FA5}">
                          <a16:colId xmlns:a16="http://schemas.microsoft.com/office/drawing/2014/main" val="504492843"/>
                        </a:ext>
                      </a:extLst>
                    </a:gridCol>
                    <a:gridCol w="1267968">
                      <a:extLst>
                        <a:ext uri="{9D8B030D-6E8A-4147-A177-3AD203B41FA5}">
                          <a16:colId xmlns:a16="http://schemas.microsoft.com/office/drawing/2014/main" val="3944622401"/>
                        </a:ext>
                      </a:extLst>
                    </a:gridCol>
                  </a:tblGrid>
                  <a:tr h="610565">
                    <a:tc>
                      <a:txBody>
                        <a:bodyPr/>
                        <a:lstStyle/>
                        <a:p>
                          <a:pPr>
                            <a:buNone/>
                          </a:pPr>
                          <a:r>
                            <a:rPr lang="en-IN" sz="1200" dirty="0"/>
                            <a:t>Quantity</a:t>
                          </a:r>
                        </a:p>
                        <a:p>
                          <a:pPr>
                            <a:buNone/>
                          </a:pPr>
                          <a:r>
                            <a:rPr lang="en-IN" sz="1200" dirty="0"/>
                            <a:t>Concentrations</a:t>
                          </a:r>
                        </a:p>
                      </a:txBody>
                      <a:tcPr anchor="ctr"/>
                    </a:tc>
                    <a:tc>
                      <a:txBody>
                        <a:bodyPr/>
                        <a:lstStyle/>
                        <a:p>
                          <a:pPr>
                            <a:buNone/>
                          </a:pPr>
                          <a:r>
                            <a:rPr lang="en-IN" sz="1200"/>
                            <a:t>Simulation (5×10¹⁷ cm⁻³)</a:t>
                          </a:r>
                        </a:p>
                      </a:txBody>
                      <a:tcPr anchor="ctr"/>
                    </a:tc>
                    <a:tc>
                      <a:txBody>
                        <a:bodyPr/>
                        <a:lstStyle/>
                        <a:p>
                          <a:pPr>
                            <a:buNone/>
                          </a:pPr>
                          <a:r>
                            <a:rPr lang="en-IN" sz="1200"/>
                            <a:t>Simulation (5×10¹⁶ cm⁻³)</a:t>
                          </a:r>
                        </a:p>
                      </a:txBody>
                      <a:tcPr anchor="ctr"/>
                    </a:tc>
                    <a:tc>
                      <a:txBody>
                        <a:bodyPr/>
                        <a:lstStyle/>
                        <a:p>
                          <a:pPr>
                            <a:buNone/>
                          </a:pPr>
                          <a:r>
                            <a:rPr lang="en-IN" sz="1200"/>
                            <a:t>Simulation (5×10¹⁹ cm⁻³)</a:t>
                          </a:r>
                        </a:p>
                      </a:txBody>
                      <a:tcPr anchor="ctr"/>
                    </a:tc>
                    <a:extLst>
                      <a:ext uri="{0D108BD9-81ED-4DB2-BD59-A6C34878D82A}">
                        <a16:rowId xmlns:a16="http://schemas.microsoft.com/office/drawing/2014/main" val="1489295556"/>
                      </a:ext>
                    </a:extLst>
                  </a:tr>
                  <a:tr h="457200">
                    <a:tc>
                      <a:txBody>
                        <a:bodyPr/>
                        <a:lstStyle/>
                        <a:p>
                          <a:endParaRPr lang="en-US"/>
                        </a:p>
                      </a:txBody>
                      <a:tcPr anchor="ctr">
                        <a:blipFill>
                          <a:blip r:embed="rId3"/>
                          <a:stretch>
                            <a:fillRect l="-481" t="-132895" r="-302404" b="-635526"/>
                          </a:stretch>
                        </a:blipFill>
                      </a:tcPr>
                    </a:tc>
                    <a:tc>
                      <a:txBody>
                        <a:bodyPr/>
                        <a:lstStyle/>
                        <a:p>
                          <a:pPr>
                            <a:buNone/>
                          </a:pPr>
                          <a:r>
                            <a:rPr lang="en-IN" sz="1200" b="0"/>
                            <a:t>0.85 V</a:t>
                          </a:r>
                        </a:p>
                      </a:txBody>
                      <a:tcPr anchor="ctr"/>
                    </a:tc>
                    <a:tc>
                      <a:txBody>
                        <a:bodyPr/>
                        <a:lstStyle/>
                        <a:p>
                          <a:pPr>
                            <a:buNone/>
                          </a:pPr>
                          <a:r>
                            <a:rPr lang="en-US" sz="1200" b="0" dirty="0"/>
                            <a:t>0</a:t>
                          </a:r>
                          <a:r>
                            <a:rPr lang="en-IN" sz="1200" b="0" dirty="0"/>
                            <a:t>.75 V</a:t>
                          </a:r>
                        </a:p>
                      </a:txBody>
                      <a:tcPr anchor="ctr"/>
                    </a:tc>
                    <a:tc>
                      <a:txBody>
                        <a:bodyPr/>
                        <a:lstStyle/>
                        <a:p>
                          <a:pPr>
                            <a:buNone/>
                          </a:pPr>
                          <a:r>
                            <a:rPr lang="en-US" sz="1200" b="0" dirty="0"/>
                            <a:t>1</a:t>
                          </a:r>
                          <a:r>
                            <a:rPr lang="en-IN" sz="1200" b="0" dirty="0"/>
                            <a:t>.05 V</a:t>
                          </a:r>
                        </a:p>
                      </a:txBody>
                      <a:tcPr anchor="ctr"/>
                    </a:tc>
                    <a:extLst>
                      <a:ext uri="{0D108BD9-81ED-4DB2-BD59-A6C34878D82A}">
                        <a16:rowId xmlns:a16="http://schemas.microsoft.com/office/drawing/2014/main" val="108417068"/>
                      </a:ext>
                    </a:extLst>
                  </a:tr>
                  <a:tr h="610565">
                    <a:tc>
                      <a:txBody>
                        <a:bodyPr/>
                        <a:lstStyle/>
                        <a:p>
                          <a:endParaRPr lang="en-US"/>
                        </a:p>
                      </a:txBody>
                      <a:tcPr anchor="ctr">
                        <a:blipFill>
                          <a:blip r:embed="rId3"/>
                          <a:stretch>
                            <a:fillRect l="-481" t="-177000" r="-302404" b="-383000"/>
                          </a:stretch>
                        </a:blipFill>
                      </a:tcPr>
                    </a:tc>
                    <a:tc>
                      <a:txBody>
                        <a:bodyPr/>
                        <a:lstStyle/>
                        <a:p>
                          <a:pPr>
                            <a:buNone/>
                          </a:pPr>
                          <a:r>
                            <a:rPr lang="en-IN" sz="1200" b="0"/>
                            <a:t>0.067 µm</a:t>
                          </a:r>
                        </a:p>
                      </a:txBody>
                      <a:tcPr anchor="ctr"/>
                    </a:tc>
                    <a:tc>
                      <a:txBody>
                        <a:bodyPr/>
                        <a:lstStyle/>
                        <a:p>
                          <a:pPr>
                            <a:buNone/>
                          </a:pPr>
                          <a:r>
                            <a:rPr lang="en-IN" sz="1200" b="0"/>
                            <a:t>0.193 µm</a:t>
                          </a:r>
                        </a:p>
                      </a:txBody>
                      <a:tcPr anchor="ctr"/>
                    </a:tc>
                    <a:tc>
                      <a:txBody>
                        <a:bodyPr/>
                        <a:lstStyle/>
                        <a:p>
                          <a:pPr>
                            <a:buNone/>
                          </a:pPr>
                          <a:r>
                            <a:rPr lang="en-IN" sz="1200" b="0"/>
                            <a:t>0.0084 µm</a:t>
                          </a:r>
                        </a:p>
                      </a:txBody>
                      <a:tcPr anchor="ctr"/>
                    </a:tc>
                    <a:extLst>
                      <a:ext uri="{0D108BD9-81ED-4DB2-BD59-A6C34878D82A}">
                        <a16:rowId xmlns:a16="http://schemas.microsoft.com/office/drawing/2014/main" val="676430571"/>
                      </a:ext>
                    </a:extLst>
                  </a:tr>
                  <a:tr h="624727">
                    <a:tc>
                      <a:txBody>
                        <a:bodyPr/>
                        <a:lstStyle/>
                        <a:p>
                          <a:endParaRPr lang="en-US"/>
                        </a:p>
                      </a:txBody>
                      <a:tcPr anchor="ctr">
                        <a:blipFill>
                          <a:blip r:embed="rId3"/>
                          <a:stretch>
                            <a:fillRect l="-481" t="-268932" r="-302404" b="-271845"/>
                          </a:stretch>
                        </a:blipFill>
                      </a:tcPr>
                    </a:tc>
                    <a:tc>
                      <a:txBody>
                        <a:bodyPr/>
                        <a:lstStyle/>
                        <a:p>
                          <a:pPr>
                            <a:buNone/>
                          </a:pPr>
                          <a:r>
                            <a:rPr lang="en-IN" sz="1200" b="0"/>
                            <a:t>0.033 µm</a:t>
                          </a:r>
                        </a:p>
                      </a:txBody>
                      <a:tcPr anchor="ctr"/>
                    </a:tc>
                    <a:tc>
                      <a:txBody>
                        <a:bodyPr/>
                        <a:lstStyle/>
                        <a:p>
                          <a:pPr>
                            <a:buNone/>
                          </a:pPr>
                          <a:r>
                            <a:rPr lang="en-IN" sz="1200" b="0"/>
                            <a:t>0.0965 µm</a:t>
                          </a:r>
                        </a:p>
                      </a:txBody>
                      <a:tcPr anchor="ctr"/>
                    </a:tc>
                    <a:tc>
                      <a:txBody>
                        <a:bodyPr/>
                        <a:lstStyle/>
                        <a:p>
                          <a:pPr>
                            <a:buNone/>
                          </a:pPr>
                          <a:r>
                            <a:rPr lang="en-IN" sz="1200" b="0"/>
                            <a:t>0.0042 µm</a:t>
                          </a:r>
                        </a:p>
                      </a:txBody>
                      <a:tcPr anchor="ctr"/>
                    </a:tc>
                    <a:extLst>
                      <a:ext uri="{0D108BD9-81ED-4DB2-BD59-A6C34878D82A}">
                        <a16:rowId xmlns:a16="http://schemas.microsoft.com/office/drawing/2014/main" val="3058859922"/>
                      </a:ext>
                    </a:extLst>
                  </a:tr>
                  <a:tr h="640080">
                    <a:tc>
                      <a:txBody>
                        <a:bodyPr/>
                        <a:lstStyle/>
                        <a:p>
                          <a:endParaRPr lang="en-US"/>
                        </a:p>
                      </a:txBody>
                      <a:tcPr anchor="ctr">
                        <a:blipFill>
                          <a:blip r:embed="rId3"/>
                          <a:stretch>
                            <a:fillRect l="-481" t="-361905" r="-302404" b="-166667"/>
                          </a:stretch>
                        </a:blipFill>
                      </a:tcPr>
                    </a:tc>
                    <a:tc>
                      <a:txBody>
                        <a:bodyPr/>
                        <a:lstStyle/>
                        <a:p>
                          <a:endParaRPr lang="en-US"/>
                        </a:p>
                      </a:txBody>
                      <a:tcPr anchor="ctr">
                        <a:blipFill>
                          <a:blip r:embed="rId3"/>
                          <a:stretch>
                            <a:fillRect l="-100000" t="-361905" r="-200957" b="-166667"/>
                          </a:stretch>
                        </a:blipFill>
                      </a:tcPr>
                    </a:tc>
                    <a:tc>
                      <a:txBody>
                        <a:bodyPr/>
                        <a:lstStyle/>
                        <a:p>
                          <a:endParaRPr lang="en-US"/>
                        </a:p>
                      </a:txBody>
                      <a:tcPr anchor="ctr">
                        <a:blipFill>
                          <a:blip r:embed="rId3"/>
                          <a:stretch>
                            <a:fillRect l="-200962" t="-361905" r="-101923" b="-166667"/>
                          </a:stretch>
                        </a:blipFill>
                      </a:tcPr>
                    </a:tc>
                    <a:tc>
                      <a:txBody>
                        <a:bodyPr/>
                        <a:lstStyle/>
                        <a:p>
                          <a:endParaRPr lang="en-US"/>
                        </a:p>
                      </a:txBody>
                      <a:tcPr anchor="ctr">
                        <a:blipFill>
                          <a:blip r:embed="rId3"/>
                          <a:stretch>
                            <a:fillRect l="-300962" t="-361905" r="-1923" b="-166667"/>
                          </a:stretch>
                        </a:blipFill>
                      </a:tcPr>
                    </a:tc>
                    <a:extLst>
                      <a:ext uri="{0D108BD9-81ED-4DB2-BD59-A6C34878D82A}">
                        <a16:rowId xmlns:a16="http://schemas.microsoft.com/office/drawing/2014/main" val="1848666517"/>
                      </a:ext>
                    </a:extLst>
                  </a:tr>
                  <a:tr h="442321">
                    <a:tc>
                      <a:txBody>
                        <a:bodyPr/>
                        <a:lstStyle/>
                        <a:p>
                          <a:endParaRPr lang="en-US"/>
                        </a:p>
                      </a:txBody>
                      <a:tcPr anchor="ctr">
                        <a:blipFill>
                          <a:blip r:embed="rId3"/>
                          <a:stretch>
                            <a:fillRect l="-481" t="-664384" r="-302404" b="-139726"/>
                          </a:stretch>
                        </a:blipFill>
                      </a:tcPr>
                    </a:tc>
                    <a:tc>
                      <a:txBody>
                        <a:bodyPr/>
                        <a:lstStyle/>
                        <a:p>
                          <a:pPr>
                            <a:buNone/>
                          </a:pPr>
                          <a:r>
                            <a:rPr lang="en-IN" sz="1200" b="0"/>
                            <a:t>1.10 eV</a:t>
                          </a:r>
                        </a:p>
                      </a:txBody>
                      <a:tcPr anchor="ctr"/>
                    </a:tc>
                    <a:tc>
                      <a:txBody>
                        <a:bodyPr/>
                        <a:lstStyle/>
                        <a:p>
                          <a:pPr>
                            <a:buNone/>
                          </a:pPr>
                          <a:r>
                            <a:rPr lang="en-US" sz="1200" b="0" dirty="0"/>
                            <a:t>1</a:t>
                          </a:r>
                          <a:r>
                            <a:rPr lang="en-IN" sz="1200" b="0" dirty="0"/>
                            <a:t>.10 eV</a:t>
                          </a:r>
                        </a:p>
                      </a:txBody>
                      <a:tcPr anchor="ctr"/>
                    </a:tc>
                    <a:tc>
                      <a:txBody>
                        <a:bodyPr/>
                        <a:lstStyle/>
                        <a:p>
                          <a:pPr>
                            <a:buNone/>
                          </a:pPr>
                          <a:r>
                            <a:rPr lang="en-US" sz="1200" b="0" dirty="0"/>
                            <a:t>1.10 eV</a:t>
                          </a:r>
                          <a:endParaRPr lang="en-IN" sz="1200" b="0" dirty="0"/>
                        </a:p>
                      </a:txBody>
                      <a:tcPr anchor="ctr"/>
                    </a:tc>
                    <a:extLst>
                      <a:ext uri="{0D108BD9-81ED-4DB2-BD59-A6C34878D82A}">
                        <a16:rowId xmlns:a16="http://schemas.microsoft.com/office/drawing/2014/main" val="2171661366"/>
                      </a:ext>
                    </a:extLst>
                  </a:tr>
                  <a:tr h="610565">
                    <a:tc>
                      <a:txBody>
                        <a:bodyPr/>
                        <a:lstStyle/>
                        <a:p>
                          <a:endParaRPr lang="en-US"/>
                        </a:p>
                      </a:txBody>
                      <a:tcPr anchor="ctr">
                        <a:blipFill>
                          <a:blip r:embed="rId3"/>
                          <a:stretch>
                            <a:fillRect l="-481" t="-558000" r="-302404" b="-2000"/>
                          </a:stretch>
                        </a:blipFill>
                      </a:tcPr>
                    </a:tc>
                    <a:tc>
                      <a:txBody>
                        <a:bodyPr/>
                        <a:lstStyle/>
                        <a:p>
                          <a:pPr>
                            <a:buNone/>
                          </a:pPr>
                          <a:r>
                            <a:rPr lang="en-IN" sz="1200" b="0"/>
                            <a:t>−18 V</a:t>
                          </a:r>
                        </a:p>
                      </a:txBody>
                      <a:tcPr anchor="ctr"/>
                    </a:tc>
                    <a:tc>
                      <a:txBody>
                        <a:bodyPr/>
                        <a:lstStyle/>
                        <a:p>
                          <a:pPr>
                            <a:buNone/>
                          </a:pPr>
                          <a:r>
                            <a:rPr lang="en-IN" sz="1200" b="0"/>
                            <a:t>−53 </a:t>
                          </a:r>
                          <a:r>
                            <a:rPr lang="en-IN" sz="1200" b="0" dirty="0"/>
                            <a:t>V</a:t>
                          </a:r>
                        </a:p>
                      </a:txBody>
                      <a:tcPr anchor="ctr"/>
                    </a:tc>
                    <a:tc>
                      <a:txBody>
                        <a:bodyPr/>
                        <a:lstStyle/>
                        <a:p>
                          <a:pPr>
                            <a:buNone/>
                          </a:pPr>
                          <a:r>
                            <a:rPr lang="en-IN" sz="1200" b="0" dirty="0"/>
                            <a:t>−6 V</a:t>
                          </a:r>
                        </a:p>
                      </a:txBody>
                      <a:tcPr anchor="ctr"/>
                    </a:tc>
                    <a:extLst>
                      <a:ext uri="{0D108BD9-81ED-4DB2-BD59-A6C34878D82A}">
                        <a16:rowId xmlns:a16="http://schemas.microsoft.com/office/drawing/2014/main" val="1904734537"/>
                      </a:ext>
                    </a:extLst>
                  </a:tr>
                </a:tbl>
              </a:graphicData>
            </a:graphic>
          </p:graphicFrame>
        </mc:Fallback>
      </mc:AlternateContent>
    </p:spTree>
    <p:extLst>
      <p:ext uri="{BB962C8B-B14F-4D97-AF65-F5344CB8AC3E}">
        <p14:creationId xmlns:p14="http://schemas.microsoft.com/office/powerpoint/2010/main" val="1744591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AE80E-751A-A38B-DB86-A3363959CB3B}"/>
              </a:ext>
            </a:extLst>
          </p:cNvPr>
          <p:cNvSpPr>
            <a:spLocks noGrp="1"/>
          </p:cNvSpPr>
          <p:nvPr>
            <p:ph type="title"/>
          </p:nvPr>
        </p:nvSpPr>
        <p:spPr/>
        <p:txBody>
          <a:bodyPr/>
          <a:lstStyle/>
          <a:p>
            <a:r>
              <a:rPr lang="en-US" dirty="0"/>
              <a:t>Future Work</a:t>
            </a:r>
            <a:endParaRPr lang="en-IN" dirty="0"/>
          </a:p>
        </p:txBody>
      </p:sp>
      <p:sp>
        <p:nvSpPr>
          <p:cNvPr id="3" name="Content Placeholder 2">
            <a:extLst>
              <a:ext uri="{FF2B5EF4-FFF2-40B4-BE49-F238E27FC236}">
                <a16:creationId xmlns:a16="http://schemas.microsoft.com/office/drawing/2014/main" id="{0EF0D3C7-5A1C-4916-D8C8-DB14B8086930}"/>
              </a:ext>
            </a:extLst>
          </p:cNvPr>
          <p:cNvSpPr>
            <a:spLocks noGrp="1"/>
          </p:cNvSpPr>
          <p:nvPr>
            <p:ph idx="1"/>
          </p:nvPr>
        </p:nvSpPr>
        <p:spPr>
          <a:xfrm>
            <a:off x="838200" y="1536192"/>
            <a:ext cx="10515600" cy="4640771"/>
          </a:xfrm>
        </p:spPr>
        <p:txBody>
          <a:bodyPr>
            <a:normAutofit fontScale="92500" lnSpcReduction="10000"/>
          </a:bodyPr>
          <a:lstStyle/>
          <a:p>
            <a:pPr marL="0" indent="0">
              <a:buNone/>
            </a:pPr>
            <a:r>
              <a:rPr lang="en-US" sz="1400" dirty="0"/>
              <a:t>The present work focused on understanding the </a:t>
            </a:r>
            <a:r>
              <a:rPr lang="en-US" sz="1400" b="1" dirty="0"/>
              <a:t>PN junction diode and the effect of doping concentration on device characteristics</a:t>
            </a:r>
            <a:r>
              <a:rPr lang="en-US" sz="1400" dirty="0"/>
              <a:t>. In the future, this work can be extended in several directions:</a:t>
            </a:r>
          </a:p>
          <a:p>
            <a:pPr marL="0" indent="0">
              <a:buNone/>
            </a:pPr>
            <a:r>
              <a:rPr lang="en-US" sz="1400" b="1" dirty="0"/>
              <a:t>1. Extension to NPN Structure</a:t>
            </a:r>
          </a:p>
          <a:p>
            <a:pPr marL="0" indent="0">
              <a:buNone/>
            </a:pPr>
            <a:r>
              <a:rPr lang="en-US" sz="1400" dirty="0"/>
              <a:t>The next step is to simulate a </a:t>
            </a:r>
            <a:r>
              <a:rPr lang="en-US" sz="1400" b="1" dirty="0"/>
              <a:t>three-layer NPN structure</a:t>
            </a:r>
            <a:r>
              <a:rPr lang="en-US" sz="1400" dirty="0"/>
              <a:t>, which forms the basic structure of a </a:t>
            </a:r>
            <a:r>
              <a:rPr lang="en-US" sz="1400" b="1" dirty="0"/>
              <a:t>Bipolar Junction Transistor (BJT)</a:t>
            </a:r>
            <a:r>
              <a:rPr lang="en-US" sz="1400" dirty="0"/>
              <a:t>. This will help study </a:t>
            </a:r>
            <a:r>
              <a:rPr lang="en-US" sz="1400" b="1" dirty="0"/>
              <a:t>carrier injection, current gain, and transistor operation</a:t>
            </a:r>
            <a:r>
              <a:rPr lang="en-US" sz="1400" dirty="0"/>
              <a:t>.</a:t>
            </a:r>
          </a:p>
          <a:p>
            <a:pPr marL="0" indent="0">
              <a:buNone/>
            </a:pPr>
            <a:r>
              <a:rPr lang="en-US" sz="1400" b="1" dirty="0"/>
              <a:t>2. Material Comparison (Silicon → Germanium)</a:t>
            </a:r>
          </a:p>
          <a:p>
            <a:pPr marL="0" indent="0">
              <a:buNone/>
            </a:pPr>
            <a:r>
              <a:rPr lang="en-US" sz="1400" dirty="0"/>
              <a:t>The current simulations use </a:t>
            </a:r>
            <a:r>
              <a:rPr lang="en-US" sz="1400" b="1" dirty="0"/>
              <a:t>silicon</a:t>
            </a:r>
            <a:r>
              <a:rPr lang="en-US" sz="1400" dirty="0"/>
              <a:t> as the semiconductor material. Future work will involve replacing silicon with </a:t>
            </a:r>
            <a:r>
              <a:rPr lang="en-US" sz="1400" b="1" dirty="0"/>
              <a:t>germanium</a:t>
            </a:r>
            <a:r>
              <a:rPr lang="en-US" sz="1400" dirty="0"/>
              <a:t> to analyze how material properties such as:</a:t>
            </a:r>
          </a:p>
          <a:p>
            <a:r>
              <a:rPr lang="en-US" sz="1400" dirty="0"/>
              <a:t>bandgap</a:t>
            </a:r>
          </a:p>
          <a:p>
            <a:r>
              <a:rPr lang="en-US" sz="1400" dirty="0"/>
              <a:t>carrier mobility</a:t>
            </a:r>
          </a:p>
          <a:p>
            <a:r>
              <a:rPr lang="en-US" sz="1400" dirty="0"/>
              <a:t>intrinsic carrier concentration</a:t>
            </a:r>
          </a:p>
          <a:p>
            <a:r>
              <a:rPr lang="en-US" sz="1400" dirty="0"/>
              <a:t>affect device performance.</a:t>
            </a:r>
          </a:p>
          <a:p>
            <a:pPr marL="0" indent="0">
              <a:buNone/>
            </a:pPr>
            <a:r>
              <a:rPr lang="en-US" sz="1400" b="1" dirty="0"/>
              <a:t>3. Electrostatic Discharge (ESD) Analysis</a:t>
            </a:r>
          </a:p>
          <a:p>
            <a:pPr marL="0" indent="0">
              <a:buNone/>
            </a:pPr>
            <a:r>
              <a:rPr lang="en-US" sz="1400" dirty="0"/>
              <a:t>Future simulations can investigate </a:t>
            </a:r>
            <a:r>
              <a:rPr lang="en-US" sz="1400" b="1" dirty="0"/>
              <a:t>ESD protection behavior</a:t>
            </a:r>
            <a:r>
              <a:rPr lang="en-US" sz="1400" dirty="0"/>
              <a:t> of PN junctions. This includes studying how the diode responds to </a:t>
            </a:r>
            <a:r>
              <a:rPr lang="en-US" sz="1400" b="1" dirty="0"/>
              <a:t>high-voltage transient pulses</a:t>
            </a:r>
            <a:r>
              <a:rPr lang="en-US" sz="1400" dirty="0"/>
              <a:t> and how it can protect integrated circuits from electrostatic damage.</a:t>
            </a:r>
          </a:p>
          <a:p>
            <a:pPr marL="0" indent="0">
              <a:buNone/>
            </a:pPr>
            <a:r>
              <a:rPr lang="en-US" sz="1400" b="1" dirty="0"/>
              <a:t>4. Punch-Through Effect</a:t>
            </a:r>
          </a:p>
          <a:p>
            <a:pPr marL="0" indent="0">
              <a:buNone/>
            </a:pPr>
            <a:r>
              <a:rPr lang="en-US" sz="1400" dirty="0"/>
              <a:t>Another important phenomenon to study is </a:t>
            </a:r>
            <a:r>
              <a:rPr lang="en-US" sz="1400" b="1" dirty="0"/>
              <a:t>punch-through</a:t>
            </a:r>
            <a:r>
              <a:rPr lang="en-US" sz="1400" dirty="0"/>
              <a:t>, which occurs when the depletion regions extend through the entire device under high reverse bias. Understanding punch-through is important for </a:t>
            </a:r>
            <a:r>
              <a:rPr lang="en-US" sz="1400" b="1" dirty="0"/>
              <a:t>device reliability and scaling in semiconductor devices</a:t>
            </a:r>
            <a:r>
              <a:rPr lang="en-US" sz="1400" dirty="0"/>
              <a:t>.</a:t>
            </a:r>
          </a:p>
          <a:p>
            <a:pPr marL="0" indent="0">
              <a:buNone/>
            </a:pPr>
            <a:endParaRPr lang="en-IN" sz="1400" dirty="0"/>
          </a:p>
        </p:txBody>
      </p:sp>
    </p:spTree>
    <p:extLst>
      <p:ext uri="{BB962C8B-B14F-4D97-AF65-F5344CB8AC3E}">
        <p14:creationId xmlns:p14="http://schemas.microsoft.com/office/powerpoint/2010/main" val="2701459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1077</TotalTime>
  <Words>1633</Words>
  <Application>Microsoft Office PowerPoint</Application>
  <PresentationFormat>Widescreen</PresentationFormat>
  <Paragraphs>119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Cambria Math</vt:lpstr>
      <vt:lpstr>Office Theme</vt:lpstr>
      <vt:lpstr>PN Junction Diode </vt:lpstr>
      <vt:lpstr>Motivation</vt:lpstr>
      <vt:lpstr>PN diode Sdevice model</vt:lpstr>
      <vt:lpstr>Meshing in the device</vt:lpstr>
      <vt:lpstr> Expression for Depletion Widths </vt:lpstr>
      <vt:lpstr>Electric Field and Thickness of Depletion Region</vt:lpstr>
      <vt:lpstr>Bandgap for donor concentration 5×10^17 " " cm^(-3) </vt:lpstr>
      <vt:lpstr>Electrostatic potential of PN diode</vt:lpstr>
      <vt:lpstr>DC IV Characteristic for the pn junction diode for 0-1 V</vt:lpstr>
      <vt:lpstr>Reverse Bias I-V Characteristics of PN junction Diode (-50 to 5 volts)</vt:lpstr>
      <vt:lpstr>Cause of Breakdown in reverse Bias </vt:lpstr>
      <vt:lpstr>Electric Field and depletion region on a doping of 5×10^16 " " cm^(-3) and 5×10^19 " " cm^(-3) </vt:lpstr>
      <vt:lpstr>Table and Comparison</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nishant pandey</dc:creator>
  <cp:lastModifiedBy>nishant pandey</cp:lastModifiedBy>
  <cp:revision>4</cp:revision>
  <dcterms:created xsi:type="dcterms:W3CDTF">2026-02-12T13:22:52Z</dcterms:created>
  <dcterms:modified xsi:type="dcterms:W3CDTF">2026-03-13T11:25:38Z</dcterms:modified>
</cp:coreProperties>
</file>